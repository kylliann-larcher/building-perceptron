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JetBrains Mono" panose="02000009000000000000" pitchFamily="49" charset="0"/>
      <p:regular r:id="rId30"/>
      <p:bold r:id="rId31"/>
    </p:embeddedFont>
    <p:embeddedFont>
      <p:font typeface="Space Grotesk" pitchFamily="34" charset="0"/>
      <p:regular r:id="rId32"/>
      <p:bold r:id="rId3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font" Target="fonts/font1.fntdata"/><Relationship Id="rId31" Type="http://schemas.openxmlformats.org/officeDocument/2006/relationships/font" Target="fonts/font2.fntdata"/><Relationship Id="rId32" Type="http://schemas.openxmlformats.org/officeDocument/2006/relationships/font" Target="fonts/font3.fntdata"/><Relationship Id="rId33"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cette présentation, on aborde une technique de l’apprentissage automatique, les réseaux de neurones, à travers leur algorithme de base : le perceptron.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perceptron peut être vu comme un réseau de neurones constitué d’un seul neurone, ou comme un bloc de construction d’un réseau plus grand. C’est un algorithme d’apprentissage de classifieur binaire (deux classes) et linéaire (les deux classes sont séparées par une droite). C’est aussi un apprentissage supervisé : les données en entrée sont représentées numériquement par leurs caractéristiques et leur classe est connue à l’avance.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classifieur binaire est représenté par une droite si chaque donnée a deux caractéristiques, par un plan si elle en a trois, et par un hyperplan au-delà. Certains jeux de données ne sont pas séparables linéairement : le perceptron simple ne peut alors pas les classer correctement.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deux caractéristiques, chaque donnée est un point du plan et la frontière est une droite. Ici, on prédit la réussite à un examen à partir des heures de révision et de sommeil. Le perceptron a appris les poids 0,4 et 0,5 et le biais −5 : la droite x₂ = 10 − 0,8x₁ sépare les deux classes. Pour un nouvel étudiant qui a révisé 6 heures et dormi 6 heures, y = 0,4 × 6 + 0,5 × 6 − 5 = 0,4, positif : réussite prédite.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trois caractéristiques, chaque donnée est un point de l’espace et la frontière devient un plan. Ici on distingue une orange d’une pomme à partir du poids, du diamètre et de la teinte, toutes ramenées entre 0 et 1. Le plan x₁ + x₂ + 2x₃ − 2 = 0 coupe l’espace en deux : les oranges sont au-dessus, les pommes en dessous. Pour le fruit (0,8 ; 0,7 ; 0,9), y = 1,3, positif : c’est une orange. Le calcul est exactement le même qu’en 2D, avec un poids de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de trois caractéristiques, la frontière est un hyperplan. On ne peut plus la dessiner, mais le calcul ne change pas : un poids par caractéristique, plus le biais. Ici, un filtre anti-spam utilise cinq caractéristiques ramenées entre 0 et 1. Les poids positifs (liens, mot « gratuit », majuscules) poussent vers le spam ; les poids négatifs (expéditeur connu, longueur) poussent vers le non-spam. Pour l’e-mail A, y = 1,7 : spam. Pour l’e-mail B, y = −2,4 : non spam. Le signe de y suffit à savoir de quel côté de l’hyperplan se trouve la donnée.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itération se déroule en deux phases. Phase de sommation : on calcule la somme des produits des entrées par leurs poids, plus le biais. Le biais est une entrée particulière, de valeur constante 1, associée au poids b. Phase d’activation : on applique une fonction seuil à cette somme pour obtenir la classe prédite.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fonction d’activation, ou fonction de transfert, est une fonction seuil de type Heaviside. Par exemple, si la somme y est supérieure au seuil 0, la sortie du perceptron vaut 1 et correspond à la première classe ; sinon elle vaut 0 et correspond à la seconde classe. Le biais représente le décalage de la droite de décision sur l’axe des ordonnées.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L’algorithme met à jour les poids des entrées pour obtenir en sortie la même valeur que la classe cible de l’exemple d’entraînement. On initialise d’abord le taux d’apprentissage alpha, puis les poids, y compris w0 associé au biais. On parcourt ensuite les données d’entraînement jusqu’au critère d’arrêt : nombre maximal d’itérations, ou zéro erreur, c’est-à-dire que la sortie obtenue est à chaque fois égale à la classe cible. À chaque itération, on prend un exemple, on calcule la sortie ; si elle est correcte, on ne fait rien ; sinon, on met à jour les poids.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règle d’apprentissage consiste à ajouter à chaque poids un terme de correction : le produit du taux d’apprentissage, de la différence entre la classe cible et la classe prédite par le perceptron, et de l’entrée correspondante. Si la prédiction est correcte, t − ŷ vaut 0 et les poids ne changent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un jeu de quatre exemples d’entraînement sur lequel on exécute l’algorithme. L’apprentissage est vu comme l’observation de ces données pour en tirer un modèle — une droite — qui permettra de classer de nouvelles données. Les données de classe 1 sont représentées par des losanges, celles de classe 0 par des cercles. On initialise α à 0,1 ; l’entrée du biais est la constante 1, et tous les poids, biais compris, valent 0. On fait passer les données une à une dans le perceptron : chaque passage est une itération.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commence par l’entrée E1 = (1 ; 1), de classe 1. Avec des poids nuls, y = 0. Comme y est inférieur ou égal à 0, ŷ = 0 : c’est différent de la classe cible 1, le perceptron s’est trompé. On calcule le terme de correction Δw = α(t − ŷ)x = 0,1 × 1 × (1 ; 1 ; 1), d’où les nouveaux poids (0,1 ; 0,1 ; 0,1). En posant y = 0, on obtient la droite x₂ = −x₁ − 1. Elle laisse les quatre points du même côté : E2 et E4, de classe 0, sont mal classées.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passe à l’entrée E2 = (0,8 ; 1,6), de classe 0. y = 0,1 × 0,8 + 0,1 × 1,6 + 0,1 = 0,34. Comme 0,34 est supérieur à 0, ŷ = 1 : différent de la classe cible 0, donc nouvelle mise à jour. Δw = 0,1 × (−1) × (0,8 ; 1,6 ; 1) = (−0,08 ; −0,16 ; −0,1), d’où les poids (0,02 ; −0,06 ; 0) et la droite x₂ = x₁/3. La droite a basculé : E2 et E4 sont maintenant bien classées, mais E1 et E3 passent du mauvais côté.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Entrée E3 = (2 ; 1), de classe 1. Avec les poids (0,02 ; −0,06 ; 0), y = 0,04 − 0,06 = −0,02, donc ŷ = 0 : erreur. Δw = 0,1 × 1 × (2 ; 1 ; 1) = (0,2 ; 0,1 ; 0,1), d’où les poids (0,22 ; 0,04 ; 0,1) et la droite x₂ = −5,5x₁ − 2,5. La correction est trop forte : la droite part tout à gauche et E2, E4 redeviennent mal classées. Chaque correction ne regarde qu’une seule donnée à la fois.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Entrée E4 = (0,5 ; 1,5), de classe 0. y = 0,22 × 0,5 + 0,04 × 1,5 + 0,1 = 0,27, donc ŷ = 1 : erreur. Δw = 0,1 × (−1) × (0,5 ; 1,5 ; 1) = (−0,05 ; −0,15 ; −0,1), d’où les poids (0,17 ; −0,11 ; 0). La droite x₂ ≈ 1,55x₁ sépare enfin les deux classes : E1 et E3 sont du côté ŷ = 1, E2 et E4 du côté ŷ = 0. Reste à vérifier qu’aucune donnée n’est plus mal classée : c’est l’époque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époque correspond à un passage complet sur toutes les données. Pendant l’époque 2, on repasse E1 à E4 avec les poids (0,17 ; −0,11 ; 0). Pour chaque entrée, la classe prédite est égale à la classe cible : aucune correction n’est appliquée. Le nombre d’erreurs est égal à zéro, c’est le critère d’arrêt : l’algorithme a convergé.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résumé : quatre itérations, quatre erreurs et quatre corrections pendant la première époque. Les trois premières droites laissent chacune deux données mal classées, car chaque correction ne tient compte que d’une donnée. La quatrième droite, x₂ ≈ 1,55x₁, classe correctement les quatre données, ce que l’époque 2 confirme. Comme ces données sont linéairement séparables, la convergence est garantie (théorème de convergence du perceptron). Avec de nouvelles données, cette droite sert à prédire leur classe.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perceptron simple permet d’apprendre des problèmes linéairement séparables, comme le ET logique ou le OU logique. Il ne permet pas d’apprendre le OU exclusif, car ses données ne sont pas séparables linéairement. Pour cela, on utilise un perceptron multicouche, qui combine des séparateurs linéaires pour produire un séparateur global non linéaire.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Avec plus de trois caractéristiques, on ne peut pas dessiner l’hyperplan. Une solution courante est l’ACP : elle projette les données sur les deux directions qui conservent le plus de variance. Chaque point x devient z = Vᵀ(x − μ). Il y a alors deux façons de procéder : réduire les données d’abord et entraîner le perceptron en 2D, ou entraîner sur toutes les variables puis projeter l’hyperplan. On compare les deux sur un même jeu de données simulé de 31 points à 5 caractéristiques, dont les deux composantes principales gardent 64 % de la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cas : on réduit d’abord les données avec l’ACP, puis on entraîne le perceptron sur les deux composantes z₁ et z₂. Le perceptron apprend directement une droite, et le dessin est exact : ce qu’on voit, c’est le modèle. Mais c’est un autre modèle que celui entraîné sur les 5 variables : l’ACP a jeté 36 % de la variance, les données ne sont plus parfaitement séparables et deux points restent mal classés.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cas : le perceptron est entraîné sur les 5 variables et classe correctement les 31 points. Pour dessiner l’hyperplan dans le plan de l’ACP, on écrit chaque point de ce plan x = μ + Vz et on le remplace dans l’équation de l’hyperplan. On obtient une droite de poids w′ = Vᵀw et de biais b′ = w·μ + b. Mais cette droite n’est que l’intersection de l’hyperplan avec le plan de l’ACP. Les vrais points ont aussi des composantes sur les autres axes : ici, trois points semblent du mauvais côté alors que le modèle les classe bien. La droite est donc une approximation, d’autant moins fiable que l’ACP perd de la 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L’alternative la plus fidèle consiste à construire le graphique à partir de l’hyperplan lui-même. Sur l’axe horizontal, on place la distance signée de chaque point à l’hyperplan, d = (w·x + b)/‖w‖. Sur l’axe vertical, on place la première composante de l’ACP calculée sur ce qui reste des données une fois la direction de w retirée. L’hyperplan devient alors exactement la droite verticale d = 0, et un point est du bon côté si et seulement s’il est bien classé : ici, les 31 points. On garde ainsi une vue en 2D sans aucune illusion sur la frontière.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présentation est terminée. Merci de l’avoir suivie.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921"/>
            <a:ext cx="10566400" cy="41452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1"/>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99921"/>
            <a:ext cx="10566400" cy="4145279"/>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pic>
        <p:nvPicPr>
          <p:cNvPr id="2" name="Image 0" descr="ellipse">    </p:cNvPr>
          <p:cNvPicPr>
            <a:picLocks noChangeAspect="1"/>
          </p:cNvPicPr>
          <p:nvPr/>
        </p:nvPicPr>
        <p:blipFill>
          <a:blip r:embed="rId1"/>
          <a:srcRect l="0" r="0" t="0" b="0"/>
          <a:stretch/>
        </p:blipFill>
        <p:spPr>
          <a:xfrm>
            <a:off x="7874000" y="1397000"/>
            <a:ext cx="3302000" cy="3302000"/>
          </a:xfrm>
          <a:prstGeom prst="rect">
            <a:avLst/>
          </a:prstGeom>
        </p:spPr>
      </p:pic>
      <p:sp>
        <p:nvSpPr>
          <p:cNvPr id="3" name="Text 0"/>
          <p:cNvSpPr/>
          <p:nvPr/>
        </p:nvSpPr>
        <p:spPr>
          <a:xfrm>
            <a:off x="7824470" y="2476500"/>
            <a:ext cx="3401060" cy="1143000"/>
          </a:xfrm>
          <a:prstGeom prst="rect">
            <a:avLst/>
          </a:prstGeom>
          <a:noFill/>
          <a:ln/>
        </p:spPr>
        <p:txBody>
          <a:bodyPr wrap="square" lIns="0" tIns="0" rIns="0" bIns="0" rtlCol="0" anchor="t">
            <a:normAutofit/>
          </a:bodyPr>
          <a:lstStyle/>
          <a:p>
            <a:pPr algn="ctr" indent="0" marL="0">
              <a:lnSpc>
                <a:spcPts val="8800"/>
              </a:lnSpc>
              <a:buNone/>
            </a:pPr>
            <a:r>
              <a:rPr lang="en-US" sz="8000" b="1" dirty="0">
                <a:solidFill>
                  <a:srgbClr val="F09A5B"/>
                </a:solidFill>
                <a:latin typeface="Space Grotesk" pitchFamily="34" charset="0"/>
                <a:ea typeface="Space Grotesk" pitchFamily="34" charset="-122"/>
                <a:cs typeface="Space Grotesk" pitchFamily="34" charset="-120"/>
              </a:rPr>
              <a:t>Σ</a:t>
            </a:r>
            <a:endParaRPr lang="en-US" sz="8000" dirty="0"/>
          </a:p>
        </p:txBody>
      </p:sp>
      <p:sp>
        <p:nvSpPr>
          <p:cNvPr id="4" name="Text 1"/>
          <p:cNvSpPr/>
          <p:nvPr/>
        </p:nvSpPr>
        <p:spPr>
          <a:xfrm>
            <a:off x="812800" y="225425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09A5B"/>
                </a:solidFill>
                <a:latin typeface="IBM Plex Sans" pitchFamily="34" charset="0"/>
                <a:ea typeface="IBM Plex Sans" pitchFamily="34" charset="-122"/>
                <a:cs typeface="IBM Plex Sans" pitchFamily="34" charset="-120"/>
              </a:rPr>
              <a:t>APPRENTISSAGE AUTOMATIQUE</a:t>
            </a:r>
            <a:endParaRPr lang="en-US" sz="1400" dirty="0"/>
          </a:p>
        </p:txBody>
      </p:sp>
      <p:sp>
        <p:nvSpPr>
          <p:cNvPr id="5" name="Text 2"/>
          <p:cNvSpPr/>
          <p:nvPr>
            <p:ph type="title"/>
          </p:nvPr>
        </p:nvSpPr>
        <p:spPr>
          <a:xfrm>
            <a:off x="812800" y="2757170"/>
            <a:ext cx="6540500" cy="932180"/>
          </a:xfrm>
          <a:prstGeom prst="rect">
            <a:avLst/>
          </a:prstGeom>
          <a:noFill/>
          <a:ln/>
        </p:spPr>
        <p:txBody>
          <a:bodyPr wrap="square" lIns="0" tIns="0" rIns="0" bIns="0" rtlCol="0" anchor="t">
            <a:normAutofit/>
          </a:bodyPr>
          <a:lstStyle/>
          <a:p>
            <a:pPr algn="l" indent="0" marL="0">
              <a:lnSpc>
                <a:spcPts val="7140"/>
              </a:lnSpc>
              <a:buNone/>
            </a:pPr>
            <a:r>
              <a:rPr lang="en-US" sz="6800" b="1" i="0" dirty="0">
                <a:solidFill>
                  <a:srgbClr val="F6F4EE"/>
                </a:solidFill>
                <a:latin typeface="Space Grotesk" pitchFamily="34" charset="0"/>
                <a:ea typeface="Space Grotesk" pitchFamily="34" charset="-122"/>
                <a:cs typeface="Space Grotesk" pitchFamily="34" charset="-120"/>
              </a:rPr>
              <a:t>Le perceptron</a:t>
            </a:r>
            <a:endParaRPr lang="en-US" sz="6800" dirty="0"/>
          </a:p>
        </p:txBody>
      </p:sp>
      <p:sp>
        <p:nvSpPr>
          <p:cNvPr id="6" name="Text 3"/>
          <p:cNvSpPr/>
          <p:nvPr/>
        </p:nvSpPr>
        <p:spPr>
          <a:xfrm>
            <a:off x="812800" y="3917950"/>
            <a:ext cx="6409690"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BFC9DA"/>
                </a:solidFill>
                <a:latin typeface="IBM Plex Sans" pitchFamily="34" charset="0"/>
                <a:ea typeface="IBM Plex Sans" pitchFamily="34" charset="-122"/>
                <a:cs typeface="IBM Plex Sans" pitchFamily="34" charset="-120"/>
              </a:rPr>
              <a:t>Une droite pour tout séparer ? Le perceptron et ses limites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DÉFINITION</a:t>
            </a:r>
            <a:endParaRPr lang="en-US" sz="1200" dirty="0"/>
          </a:p>
        </p:txBody>
      </p:sp>
      <p:sp>
        <p:nvSpPr>
          <p:cNvPr id="3" name="Text 1"/>
          <p:cNvSpPr/>
          <p:nvPr>
            <p:ph type="title"/>
          </p:nvPr>
        </p:nvSpPr>
        <p:spPr>
          <a:xfrm>
            <a:off x="812800" y="1127760"/>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Qu’est-ce que le perceptron ?</a:t>
            </a:r>
            <a:endParaRPr lang="en-US" sz="3200" dirty="0"/>
          </a:p>
        </p:txBody>
      </p:sp>
      <p:sp>
        <p:nvSpPr>
          <p:cNvPr id="4" name="Shape 2"/>
          <p:cNvSpPr/>
          <p:nvPr/>
        </p:nvSpPr>
        <p:spPr>
          <a:xfrm>
            <a:off x="815975" y="1903095"/>
            <a:ext cx="5175250" cy="1426210"/>
          </a:xfrm>
          <a:prstGeom prst="roundRect">
            <a:avLst>
              <a:gd name="adj" fmla="val 6901"/>
            </a:avLst>
          </a:prstGeom>
          <a:solidFill>
            <a:srgbClr val="FFFFFF"/>
          </a:solidFill>
          <a:ln w="6350">
            <a:solidFill>
              <a:srgbClr val="DDD8CB"/>
            </a:solidFill>
            <a:prstDash val="solid"/>
          </a:ln>
        </p:spPr>
      </p:sp>
      <p:sp>
        <p:nvSpPr>
          <p:cNvPr id="5" name="Text 3"/>
          <p:cNvSpPr/>
          <p:nvPr/>
        </p:nvSpPr>
        <p:spPr>
          <a:xfrm>
            <a:off x="1071880" y="2159000"/>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541C"/>
                </a:solidFill>
                <a:latin typeface="Space Grotesk" pitchFamily="34" charset="0"/>
                <a:ea typeface="Space Grotesk" pitchFamily="34" charset="-122"/>
                <a:cs typeface="Space Grotesk" pitchFamily="34" charset="-120"/>
              </a:rPr>
              <a:t>Un seul neurone</a:t>
            </a:r>
            <a:endParaRPr lang="en-US" sz="2000" dirty="0"/>
          </a:p>
        </p:txBody>
      </p:sp>
      <p:sp>
        <p:nvSpPr>
          <p:cNvPr id="6" name="Text 4"/>
          <p:cNvSpPr/>
          <p:nvPr/>
        </p:nvSpPr>
        <p:spPr>
          <a:xfrm>
            <a:off x="1071880" y="2540000"/>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Un réseau constitué d’un unique neurone, ou la brique de base d’un réseau de neurones plus grand.</a:t>
            </a:r>
            <a:endParaRPr lang="en-US" sz="1500" dirty="0"/>
          </a:p>
        </p:txBody>
      </p:sp>
      <p:sp>
        <p:nvSpPr>
          <p:cNvPr id="7" name="Shape 5"/>
          <p:cNvSpPr/>
          <p:nvPr/>
        </p:nvSpPr>
        <p:spPr>
          <a:xfrm>
            <a:off x="6200775" y="1903095"/>
            <a:ext cx="5175250" cy="1426210"/>
          </a:xfrm>
          <a:prstGeom prst="roundRect">
            <a:avLst>
              <a:gd name="adj" fmla="val 6901"/>
            </a:avLst>
          </a:prstGeom>
          <a:solidFill>
            <a:srgbClr val="FFFFFF"/>
          </a:solidFill>
          <a:ln w="6350">
            <a:solidFill>
              <a:srgbClr val="DDD8CB"/>
            </a:solidFill>
            <a:prstDash val="solid"/>
          </a:ln>
        </p:spPr>
      </p:sp>
      <p:sp>
        <p:nvSpPr>
          <p:cNvPr id="8" name="Text 6"/>
          <p:cNvSpPr/>
          <p:nvPr/>
        </p:nvSpPr>
        <p:spPr>
          <a:xfrm>
            <a:off x="6456680" y="2159000"/>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541C"/>
                </a:solidFill>
                <a:latin typeface="Space Grotesk" pitchFamily="34" charset="0"/>
                <a:ea typeface="Space Grotesk" pitchFamily="34" charset="-122"/>
                <a:cs typeface="Space Grotesk" pitchFamily="34" charset="-120"/>
              </a:rPr>
              <a:t>Classifieur binaire</a:t>
            </a:r>
            <a:endParaRPr lang="en-US" sz="2000" dirty="0"/>
          </a:p>
        </p:txBody>
      </p:sp>
      <p:sp>
        <p:nvSpPr>
          <p:cNvPr id="9" name="Text 7"/>
          <p:cNvSpPr/>
          <p:nvPr/>
        </p:nvSpPr>
        <p:spPr>
          <a:xfrm>
            <a:off x="6456680" y="2540000"/>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Il répartit un ensemble de données en deux classes : 1 ou 0.</a:t>
            </a:r>
            <a:endParaRPr lang="en-US" sz="1500" dirty="0"/>
          </a:p>
        </p:txBody>
      </p:sp>
      <p:sp>
        <p:nvSpPr>
          <p:cNvPr id="10" name="Shape 8"/>
          <p:cNvSpPr/>
          <p:nvPr/>
        </p:nvSpPr>
        <p:spPr>
          <a:xfrm>
            <a:off x="815975" y="3538855"/>
            <a:ext cx="5175250" cy="1692910"/>
          </a:xfrm>
          <a:prstGeom prst="roundRect">
            <a:avLst>
              <a:gd name="adj" fmla="val 5814"/>
            </a:avLst>
          </a:prstGeom>
          <a:solidFill>
            <a:srgbClr val="FFFFFF"/>
          </a:solidFill>
          <a:ln w="6350">
            <a:solidFill>
              <a:srgbClr val="DDD8CB"/>
            </a:solidFill>
            <a:prstDash val="solid"/>
          </a:ln>
        </p:spPr>
      </p:sp>
      <p:sp>
        <p:nvSpPr>
          <p:cNvPr id="11" name="Text 9"/>
          <p:cNvSpPr/>
          <p:nvPr/>
        </p:nvSpPr>
        <p:spPr>
          <a:xfrm>
            <a:off x="1071880" y="3794760"/>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541C"/>
                </a:solidFill>
                <a:latin typeface="Space Grotesk" pitchFamily="34" charset="0"/>
                <a:ea typeface="Space Grotesk" pitchFamily="34" charset="-122"/>
                <a:cs typeface="Space Grotesk" pitchFamily="34" charset="-120"/>
              </a:rPr>
              <a:t>Linéaire</a:t>
            </a:r>
            <a:endParaRPr lang="en-US" sz="2000" dirty="0"/>
          </a:p>
        </p:txBody>
      </p:sp>
      <p:sp>
        <p:nvSpPr>
          <p:cNvPr id="12" name="Text 10"/>
          <p:cNvSpPr/>
          <p:nvPr/>
        </p:nvSpPr>
        <p:spPr>
          <a:xfrm>
            <a:off x="1071880" y="4175760"/>
            <a:ext cx="480334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Il sépare les deux classes par une ligne droite (ou son équivalent en plus grande dimension).</a:t>
            </a:r>
            <a:endParaRPr lang="en-US" sz="1500" dirty="0"/>
          </a:p>
        </p:txBody>
      </p:sp>
      <p:sp>
        <p:nvSpPr>
          <p:cNvPr id="13" name="Shape 11"/>
          <p:cNvSpPr/>
          <p:nvPr/>
        </p:nvSpPr>
        <p:spPr>
          <a:xfrm>
            <a:off x="6200775" y="3538855"/>
            <a:ext cx="5175250" cy="1692910"/>
          </a:xfrm>
          <a:prstGeom prst="roundRect">
            <a:avLst>
              <a:gd name="adj" fmla="val 5814"/>
            </a:avLst>
          </a:prstGeom>
          <a:solidFill>
            <a:srgbClr val="FFFFFF"/>
          </a:solidFill>
          <a:ln w="6350">
            <a:solidFill>
              <a:srgbClr val="DDD8CB"/>
            </a:solidFill>
            <a:prstDash val="solid"/>
          </a:ln>
        </p:spPr>
      </p:sp>
      <p:sp>
        <p:nvSpPr>
          <p:cNvPr id="14" name="Text 12"/>
          <p:cNvSpPr/>
          <p:nvPr/>
        </p:nvSpPr>
        <p:spPr>
          <a:xfrm>
            <a:off x="6456680" y="3794760"/>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5541C"/>
                </a:solidFill>
                <a:latin typeface="Space Grotesk" pitchFamily="34" charset="0"/>
                <a:ea typeface="Space Grotesk" pitchFamily="34" charset="-122"/>
                <a:cs typeface="Space Grotesk" pitchFamily="34" charset="-120"/>
              </a:rPr>
              <a:t>Supervisé</a:t>
            </a:r>
            <a:endParaRPr lang="en-US" sz="2000" dirty="0"/>
          </a:p>
        </p:txBody>
      </p:sp>
      <p:sp>
        <p:nvSpPr>
          <p:cNvPr id="15" name="Text 13"/>
          <p:cNvSpPr/>
          <p:nvPr/>
        </p:nvSpPr>
        <p:spPr>
          <a:xfrm>
            <a:off x="6456680" y="4175760"/>
            <a:ext cx="480334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Il apprend sur des données décrites par des caractéristiques numériques dont la classe est connue à l’avance.</a:t>
            </a:r>
            <a:endParaRPr lang="en-US" sz="1500" dirty="0"/>
          </a:p>
        </p:txBody>
      </p:sp>
      <p:sp>
        <p:nvSpPr>
          <p:cNvPr id="16" name="Text 14"/>
          <p:cNvSpPr/>
          <p:nvPr/>
        </p:nvSpPr>
        <p:spPr>
          <a:xfrm>
            <a:off x="812800" y="62382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03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SÉPARATION LINÉAIRE</a:t>
            </a:r>
            <a:endParaRPr lang="en-US" sz="1200" dirty="0"/>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La frontière dépend du nombre de caractéristiques</a:t>
            </a:r>
            <a:endParaRPr lang="en-US" sz="3200" dirty="0"/>
          </a:p>
        </p:txBody>
      </p:sp>
      <p:sp>
        <p:nvSpPr>
          <p:cNvPr id="4" name="Shape 2"/>
          <p:cNvSpPr/>
          <p:nvPr/>
        </p:nvSpPr>
        <p:spPr>
          <a:xfrm>
            <a:off x="815975" y="1903095"/>
            <a:ext cx="3380264" cy="2018030"/>
          </a:xfrm>
          <a:prstGeom prst="roundRect">
            <a:avLst>
              <a:gd name="adj" fmla="val 4877"/>
            </a:avLst>
          </a:prstGeom>
          <a:solidFill>
            <a:srgbClr val="FFFFFF"/>
          </a:solidFill>
          <a:ln w="6350">
            <a:solidFill>
              <a:srgbClr val="DDD8CB"/>
            </a:solidFill>
            <a:prstDash val="solid"/>
          </a:ln>
        </p:spPr>
      </p:sp>
      <p:sp>
        <p:nvSpPr>
          <p:cNvPr id="5" name="Text 3"/>
          <p:cNvSpPr/>
          <p:nvPr/>
        </p:nvSpPr>
        <p:spPr>
          <a:xfrm>
            <a:off x="1071880" y="2159000"/>
            <a:ext cx="2954507" cy="807720"/>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B5541C"/>
                </a:solidFill>
                <a:latin typeface="Space Grotesk" pitchFamily="34" charset="0"/>
                <a:ea typeface="Space Grotesk" pitchFamily="34" charset="-122"/>
                <a:cs typeface="Space Grotesk" pitchFamily="34" charset="-120"/>
              </a:rPr>
              <a:t>2</a:t>
            </a:r>
            <a:endParaRPr lang="en-US" sz="5600" dirty="0"/>
          </a:p>
        </p:txBody>
      </p:sp>
      <p:sp>
        <p:nvSpPr>
          <p:cNvPr id="6" name="Text 4"/>
          <p:cNvSpPr/>
          <p:nvPr/>
        </p:nvSpPr>
        <p:spPr>
          <a:xfrm>
            <a:off x="1071880" y="2992120"/>
            <a:ext cx="2954507"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caractéristiques</a:t>
            </a:r>
            <a:endParaRPr lang="en-US" sz="1500" dirty="0"/>
          </a:p>
        </p:txBody>
      </p:sp>
      <p:sp>
        <p:nvSpPr>
          <p:cNvPr id="7" name="Text 5"/>
          <p:cNvSpPr/>
          <p:nvPr/>
        </p:nvSpPr>
        <p:spPr>
          <a:xfrm>
            <a:off x="1071880" y="3309620"/>
            <a:ext cx="295450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Space Grotesk" pitchFamily="34" charset="0"/>
                <a:ea typeface="Space Grotesk" pitchFamily="34" charset="-122"/>
                <a:cs typeface="Space Grotesk" pitchFamily="34" charset="-120"/>
              </a:rPr>
              <a:t>→ une droite</a:t>
            </a:r>
            <a:endParaRPr lang="en-US" sz="2000" dirty="0"/>
          </a:p>
        </p:txBody>
      </p:sp>
      <p:sp>
        <p:nvSpPr>
          <p:cNvPr id="8" name="Shape 6"/>
          <p:cNvSpPr/>
          <p:nvPr/>
        </p:nvSpPr>
        <p:spPr>
          <a:xfrm>
            <a:off x="4405789" y="1903095"/>
            <a:ext cx="3380343" cy="2018030"/>
          </a:xfrm>
          <a:prstGeom prst="roundRect">
            <a:avLst>
              <a:gd name="adj" fmla="val 4877"/>
            </a:avLst>
          </a:prstGeom>
          <a:solidFill>
            <a:srgbClr val="FFFFFF"/>
          </a:solidFill>
          <a:ln w="6350">
            <a:solidFill>
              <a:srgbClr val="DDD8CB"/>
            </a:solidFill>
            <a:prstDash val="solid"/>
          </a:ln>
        </p:spPr>
      </p:sp>
      <p:sp>
        <p:nvSpPr>
          <p:cNvPr id="9" name="Text 7"/>
          <p:cNvSpPr/>
          <p:nvPr/>
        </p:nvSpPr>
        <p:spPr>
          <a:xfrm>
            <a:off x="4661694" y="2159000"/>
            <a:ext cx="2954589" cy="807720"/>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B5541C"/>
                </a:solidFill>
                <a:latin typeface="Space Grotesk" pitchFamily="34" charset="0"/>
                <a:ea typeface="Space Grotesk" pitchFamily="34" charset="-122"/>
                <a:cs typeface="Space Grotesk" pitchFamily="34" charset="-120"/>
              </a:rPr>
              <a:t>3</a:t>
            </a:r>
            <a:endParaRPr lang="en-US" sz="5600" dirty="0"/>
          </a:p>
        </p:txBody>
      </p:sp>
      <p:sp>
        <p:nvSpPr>
          <p:cNvPr id="10" name="Text 8"/>
          <p:cNvSpPr/>
          <p:nvPr/>
        </p:nvSpPr>
        <p:spPr>
          <a:xfrm>
            <a:off x="4661694" y="2992120"/>
            <a:ext cx="295458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caractéristiques</a:t>
            </a:r>
            <a:endParaRPr lang="en-US" sz="1500" dirty="0"/>
          </a:p>
        </p:txBody>
      </p:sp>
      <p:sp>
        <p:nvSpPr>
          <p:cNvPr id="11" name="Text 9"/>
          <p:cNvSpPr/>
          <p:nvPr/>
        </p:nvSpPr>
        <p:spPr>
          <a:xfrm>
            <a:off x="4661694" y="3309620"/>
            <a:ext cx="29545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Space Grotesk" pitchFamily="34" charset="0"/>
                <a:ea typeface="Space Grotesk" pitchFamily="34" charset="-122"/>
                <a:cs typeface="Space Grotesk" pitchFamily="34" charset="-120"/>
              </a:rPr>
              <a:t>→ un plan</a:t>
            </a:r>
            <a:endParaRPr lang="en-US" sz="2000" dirty="0"/>
          </a:p>
        </p:txBody>
      </p:sp>
      <p:sp>
        <p:nvSpPr>
          <p:cNvPr id="12" name="Shape 10"/>
          <p:cNvSpPr/>
          <p:nvPr/>
        </p:nvSpPr>
        <p:spPr>
          <a:xfrm>
            <a:off x="7995682" y="1903095"/>
            <a:ext cx="3380343" cy="2018030"/>
          </a:xfrm>
          <a:prstGeom prst="roundRect">
            <a:avLst>
              <a:gd name="adj" fmla="val 4877"/>
            </a:avLst>
          </a:prstGeom>
          <a:solidFill>
            <a:srgbClr val="FFFFFF"/>
          </a:solidFill>
          <a:ln w="6350">
            <a:solidFill>
              <a:srgbClr val="DDD8CB"/>
            </a:solidFill>
            <a:prstDash val="solid"/>
          </a:ln>
        </p:spPr>
      </p:sp>
      <p:sp>
        <p:nvSpPr>
          <p:cNvPr id="13" name="Text 11"/>
          <p:cNvSpPr/>
          <p:nvPr/>
        </p:nvSpPr>
        <p:spPr>
          <a:xfrm>
            <a:off x="8251587" y="2159000"/>
            <a:ext cx="2954589" cy="807720"/>
          </a:xfrm>
          <a:prstGeom prst="rect">
            <a:avLst/>
          </a:prstGeom>
          <a:noFill/>
          <a:ln/>
        </p:spPr>
        <p:txBody>
          <a:bodyPr wrap="square" lIns="0" tIns="0" rIns="0" bIns="0" rtlCol="0" anchor="t">
            <a:normAutofit/>
          </a:bodyPr>
          <a:lstStyle/>
          <a:p>
            <a:pPr algn="l" indent="0" marL="0">
              <a:lnSpc>
                <a:spcPts val="6160"/>
              </a:lnSpc>
              <a:buNone/>
            </a:pPr>
            <a:r>
              <a:rPr lang="en-US" sz="5600" b="1" dirty="0">
                <a:solidFill>
                  <a:srgbClr val="B5541C"/>
                </a:solidFill>
                <a:latin typeface="Space Grotesk" pitchFamily="34" charset="0"/>
                <a:ea typeface="Space Grotesk" pitchFamily="34" charset="-122"/>
                <a:cs typeface="Space Grotesk" pitchFamily="34" charset="-120"/>
              </a:rPr>
              <a:t>n &gt; 3</a:t>
            </a:r>
            <a:endParaRPr lang="en-US" sz="5600" dirty="0"/>
          </a:p>
        </p:txBody>
      </p:sp>
      <p:sp>
        <p:nvSpPr>
          <p:cNvPr id="14" name="Text 12"/>
          <p:cNvSpPr/>
          <p:nvPr/>
        </p:nvSpPr>
        <p:spPr>
          <a:xfrm>
            <a:off x="8251587" y="2992120"/>
            <a:ext cx="295458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caractéristiques</a:t>
            </a:r>
            <a:endParaRPr lang="en-US" sz="1500" dirty="0"/>
          </a:p>
        </p:txBody>
      </p:sp>
      <p:sp>
        <p:nvSpPr>
          <p:cNvPr id="15" name="Text 13"/>
          <p:cNvSpPr/>
          <p:nvPr/>
        </p:nvSpPr>
        <p:spPr>
          <a:xfrm>
            <a:off x="8251587" y="3309620"/>
            <a:ext cx="2954589"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213D"/>
                </a:solidFill>
                <a:latin typeface="Space Grotesk" pitchFamily="34" charset="0"/>
                <a:ea typeface="Space Grotesk" pitchFamily="34" charset="-122"/>
                <a:cs typeface="Space Grotesk" pitchFamily="34" charset="-120"/>
              </a:rPr>
              <a:t>→ un hyperplan</a:t>
            </a:r>
            <a:endParaRPr lang="en-US" sz="2000" dirty="0"/>
          </a:p>
        </p:txBody>
      </p:sp>
      <p:sp>
        <p:nvSpPr>
          <p:cNvPr id="16" name="Shape 14"/>
          <p:cNvSpPr/>
          <p:nvPr/>
        </p:nvSpPr>
        <p:spPr>
          <a:xfrm>
            <a:off x="812800" y="4229100"/>
            <a:ext cx="10566400" cy="939800"/>
          </a:xfrm>
          <a:prstGeom prst="roundRect">
            <a:avLst>
              <a:gd name="adj" fmla="val 10811"/>
            </a:avLst>
          </a:prstGeom>
          <a:solidFill>
            <a:srgbClr val="14213D"/>
          </a:solidFill>
          <a:ln/>
        </p:spPr>
      </p:sp>
      <p:pic>
        <p:nvPicPr>
          <p:cNvPr id="17" name="Image 0" descr="Warning">    </p:cNvPr>
          <p:cNvPicPr>
            <a:picLocks noChangeAspect="1"/>
          </p:cNvPicPr>
          <p:nvPr/>
        </p:nvPicPr>
        <p:blipFill>
          <a:blip r:embed="rId1"/>
          <a:srcRect l="-245" r="-245" t="0" b="0"/>
          <a:stretch/>
        </p:blipFill>
        <p:spPr>
          <a:xfrm>
            <a:off x="1066800" y="4546600"/>
            <a:ext cx="293529" cy="304800"/>
          </a:xfrm>
          <a:prstGeom prst="rect">
            <a:avLst/>
          </a:prstGeom>
        </p:spPr>
      </p:pic>
      <p:sp>
        <p:nvSpPr>
          <p:cNvPr id="18" name="Text 15"/>
          <p:cNvSpPr/>
          <p:nvPr/>
        </p:nvSpPr>
        <p:spPr>
          <a:xfrm>
            <a:off x="1512729" y="4432300"/>
            <a:ext cx="990084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Condition : les données doivent être </a:t>
            </a:r>
            <a:r>
              <a:rPr lang="en-US" sz="1500" b="1" dirty="0">
                <a:solidFill>
                  <a:srgbClr val="F6F4EE"/>
                </a:solidFill>
                <a:latin typeface="IBM Plex Sans" pitchFamily="34" charset="0"/>
                <a:ea typeface="IBM Plex Sans" pitchFamily="34" charset="-122"/>
                <a:cs typeface="IBM Plex Sans" pitchFamily="34" charset="-120"/>
              </a:rPr>
              <a:t>linéairement séparables</a:t>
            </a:r>
            <a:r>
              <a:rPr lang="en-US" sz="1500" dirty="0">
                <a:solidFill>
                  <a:srgbClr val="F6F4EE"/>
                </a:solidFill>
                <a:latin typeface="IBM Plex Sans" pitchFamily="34" charset="0"/>
                <a:ea typeface="IBM Plex Sans" pitchFamily="34" charset="-122"/>
                <a:cs typeface="IBM Plex Sans" pitchFamily="34" charset="-120"/>
              </a:rPr>
              <a:t>. Sinon, aucune droite ne peut séparer les deux classes.</a:t>
            </a:r>
            <a:endParaRPr lang="en-US" sz="1500" dirty="0"/>
          </a:p>
        </p:txBody>
      </p:sp>
      <p:sp>
        <p:nvSpPr>
          <p:cNvPr id="19" name="Text 16"/>
          <p:cNvSpPr/>
          <p:nvPr/>
        </p:nvSpPr>
        <p:spPr>
          <a:xfrm>
            <a:off x="812800" y="6238241"/>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04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EXEMPLE · 2 CARACTÉRISTIQUES</a:t>
            </a:r>
            <a:endParaRPr lang="en-US" sz="1200" dirty="0"/>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Réussite à un examen : une droite</a:t>
            </a:r>
            <a:endParaRPr lang="en-US" sz="3200" dirty="0"/>
          </a:p>
        </p:txBody>
      </p:sp>
      <p:sp>
        <p:nvSpPr>
          <p:cNvPr id="4" name="Text 2"/>
          <p:cNvSpPr/>
          <p:nvPr/>
        </p:nvSpPr>
        <p:spPr>
          <a:xfrm>
            <a:off x="812800" y="1899920"/>
            <a:ext cx="66451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x₁</a:t>
            </a:r>
            <a:r>
              <a:rPr lang="en-US" sz="1500" dirty="0">
                <a:solidFill>
                  <a:srgbClr val="4A5568"/>
                </a:solidFill>
                <a:latin typeface="IBM Plex Sans" pitchFamily="34" charset="0"/>
                <a:ea typeface="IBM Plex Sans" pitchFamily="34" charset="-122"/>
                <a:cs typeface="IBM Plex Sans" pitchFamily="34" charset="-120"/>
              </a:rPr>
              <a:t> = heures de révision · </a:t>
            </a:r>
            <a:r>
              <a:rPr lang="en-US" sz="1500" b="1" dirty="0">
                <a:solidFill>
                  <a:srgbClr val="14213D"/>
                </a:solidFill>
                <a:latin typeface="IBM Plex Sans" pitchFamily="34" charset="0"/>
                <a:ea typeface="IBM Plex Sans" pitchFamily="34" charset="-122"/>
                <a:cs typeface="IBM Plex Sans" pitchFamily="34" charset="-120"/>
              </a:rPr>
              <a:t>x₂</a:t>
            </a:r>
            <a:r>
              <a:rPr lang="en-US" sz="1500" dirty="0">
                <a:solidFill>
                  <a:srgbClr val="4A5568"/>
                </a:solidFill>
                <a:latin typeface="IBM Plex Sans" pitchFamily="34" charset="0"/>
                <a:ea typeface="IBM Plex Sans" pitchFamily="34" charset="-122"/>
                <a:cs typeface="IBM Plex Sans" pitchFamily="34" charset="-120"/>
              </a:rPr>
              <a:t> = heures de sommeil</a:t>
            </a:r>
            <a:endParaRPr lang="en-US" sz="1500" dirty="0"/>
          </a:p>
        </p:txBody>
      </p:sp>
      <p:sp>
        <p:nvSpPr>
          <p:cNvPr id="5" name="Text 3"/>
          <p:cNvSpPr/>
          <p:nvPr/>
        </p:nvSpPr>
        <p:spPr>
          <a:xfrm>
            <a:off x="812800" y="2242820"/>
            <a:ext cx="66451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Classe 1 = réussi · classe 0 = échoué</a:t>
            </a:r>
            <a:endParaRPr lang="en-US" sz="1500" dirty="0"/>
          </a:p>
        </p:txBody>
      </p:sp>
      <p:sp>
        <p:nvSpPr>
          <p:cNvPr id="6" name="Shape 4"/>
          <p:cNvSpPr/>
          <p:nvPr/>
        </p:nvSpPr>
        <p:spPr>
          <a:xfrm>
            <a:off x="812800" y="2837180"/>
            <a:ext cx="6451600" cy="1341120"/>
          </a:xfrm>
          <a:prstGeom prst="roundRect">
            <a:avLst>
              <a:gd name="adj" fmla="val 7576"/>
            </a:avLst>
          </a:prstGeom>
          <a:solidFill>
            <a:srgbClr val="14213D"/>
          </a:solidFill>
          <a:ln/>
        </p:spPr>
      </p:sp>
      <p:sp>
        <p:nvSpPr>
          <p:cNvPr id="7" name="Text 5"/>
          <p:cNvSpPr/>
          <p:nvPr/>
        </p:nvSpPr>
        <p:spPr>
          <a:xfrm>
            <a:off x="1066800" y="3040380"/>
            <a:ext cx="61219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9A5B"/>
                </a:solidFill>
                <a:latin typeface="IBM Plex Sans" pitchFamily="34" charset="0"/>
                <a:ea typeface="IBM Plex Sans" pitchFamily="34" charset="-122"/>
                <a:cs typeface="IBM Plex Sans" pitchFamily="34" charset="-120"/>
              </a:rPr>
              <a:t>FRONTIÈRE APPRISE</a:t>
            </a:r>
            <a:endParaRPr lang="en-US" sz="1200" dirty="0"/>
          </a:p>
        </p:txBody>
      </p:sp>
      <p:sp>
        <p:nvSpPr>
          <p:cNvPr id="8" name="Text 6"/>
          <p:cNvSpPr/>
          <p:nvPr/>
        </p:nvSpPr>
        <p:spPr>
          <a:xfrm>
            <a:off x="1066800" y="3329941"/>
            <a:ext cx="612190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JetBrains Mono" pitchFamily="49" charset="0"/>
                <a:ea typeface="JetBrains Mono" pitchFamily="49" charset="-122"/>
                <a:cs typeface="JetBrains Mono" pitchFamily="49" charset="-120"/>
              </a:rPr>
              <a:t>0,4·x₁ + 0,5·x₂ − 5 = 0</a:t>
            </a:r>
            <a:endParaRPr lang="en-US" sz="1600" dirty="0"/>
          </a:p>
        </p:txBody>
      </p:sp>
      <p:sp>
        <p:nvSpPr>
          <p:cNvPr id="9" name="Text 7"/>
          <p:cNvSpPr/>
          <p:nvPr/>
        </p:nvSpPr>
        <p:spPr>
          <a:xfrm>
            <a:off x="1066800" y="3690620"/>
            <a:ext cx="612190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9A5B"/>
                </a:solidFill>
                <a:latin typeface="JetBrains Mono" pitchFamily="49" charset="0"/>
                <a:ea typeface="JetBrains Mono" pitchFamily="49" charset="-122"/>
                <a:cs typeface="JetBrains Mono" pitchFamily="49" charset="-120"/>
              </a:rPr>
              <a:t>⇔ x₂ = 10 − 0,8·x₁</a:t>
            </a:r>
            <a:endParaRPr lang="en-US" sz="1600" dirty="0"/>
          </a:p>
        </p:txBody>
      </p:sp>
      <p:sp>
        <p:nvSpPr>
          <p:cNvPr id="10" name="Shape 8"/>
          <p:cNvSpPr/>
          <p:nvPr/>
        </p:nvSpPr>
        <p:spPr>
          <a:xfrm>
            <a:off x="815975" y="4509136"/>
            <a:ext cx="6445250" cy="1197610"/>
          </a:xfrm>
          <a:prstGeom prst="roundRect">
            <a:avLst>
              <a:gd name="adj" fmla="val 8218"/>
            </a:avLst>
          </a:prstGeom>
          <a:solidFill>
            <a:srgbClr val="FFFFFF"/>
          </a:solidFill>
          <a:ln w="6350">
            <a:solidFill>
              <a:srgbClr val="DDD8CB"/>
            </a:solidFill>
            <a:prstDash val="solid"/>
          </a:ln>
        </p:spPr>
      </p:sp>
      <p:sp>
        <p:nvSpPr>
          <p:cNvPr id="11" name="Text 9"/>
          <p:cNvSpPr/>
          <p:nvPr/>
        </p:nvSpPr>
        <p:spPr>
          <a:xfrm>
            <a:off x="1071880" y="4688841"/>
            <a:ext cx="61114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NOUVEL ÉTUDIANT : (6 ; 6)</a:t>
            </a:r>
            <a:endParaRPr lang="en-US" sz="1200" dirty="0"/>
          </a:p>
        </p:txBody>
      </p:sp>
      <p:sp>
        <p:nvSpPr>
          <p:cNvPr id="12" name="Text 10"/>
          <p:cNvSpPr/>
          <p:nvPr/>
        </p:nvSpPr>
        <p:spPr>
          <a:xfrm>
            <a:off x="1071880" y="4965700"/>
            <a:ext cx="61114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 = 2,4 + 3 − 5 = </a:t>
            </a:r>
            <a:r>
              <a:rPr lang="en-US" sz="1400" b="1" dirty="0">
                <a:solidFill>
                  <a:srgbClr val="14213D"/>
                </a:solidFill>
                <a:latin typeface="JetBrains Mono" pitchFamily="49" charset="0"/>
                <a:ea typeface="JetBrains Mono" pitchFamily="49" charset="-122"/>
                <a:cs typeface="JetBrains Mono" pitchFamily="49" charset="-120"/>
              </a:rPr>
              <a:t>0,4</a:t>
            </a:r>
            <a:r>
              <a:rPr lang="en-US" sz="1400" dirty="0">
                <a:solidFill>
                  <a:srgbClr val="14213D"/>
                </a:solidFill>
                <a:latin typeface="JetBrains Mono" pitchFamily="49" charset="0"/>
                <a:ea typeface="JetBrains Mono" pitchFamily="49" charset="-122"/>
                <a:cs typeface="JetBrains Mono" pitchFamily="49" charset="-120"/>
              </a:rPr>
              <a:t> &gt; 0</a:t>
            </a:r>
            <a:endParaRPr lang="en-US" sz="1400" dirty="0"/>
          </a:p>
        </p:txBody>
      </p:sp>
      <p:sp>
        <p:nvSpPr>
          <p:cNvPr id="13" name="Text 11"/>
          <p:cNvSpPr/>
          <p:nvPr/>
        </p:nvSpPr>
        <p:spPr>
          <a:xfrm>
            <a:off x="1071880" y="5278120"/>
            <a:ext cx="61114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IBM Plex Sans" pitchFamily="34" charset="0"/>
                <a:ea typeface="IBM Plex Sans" pitchFamily="34" charset="-122"/>
                <a:cs typeface="IBM Plex Sans" pitchFamily="34" charset="-120"/>
              </a:rPr>
              <a:t>→ ŷ = 1 : réussite prédite</a:t>
            </a:r>
            <a:endParaRPr lang="en-US" sz="1400" dirty="0"/>
          </a:p>
        </p:txBody>
      </p:sp>
      <p:sp>
        <p:nvSpPr>
          <p:cNvPr id="14" name="Shape 12"/>
          <p:cNvSpPr/>
          <p:nvPr/>
        </p:nvSpPr>
        <p:spPr>
          <a:xfrm>
            <a:off x="7569200" y="1899920"/>
            <a:ext cx="3810000" cy="3810000"/>
          </a:xfrm>
          <a:prstGeom prst="roundRect">
            <a:avLst>
              <a:gd name="adj" fmla="val 2667"/>
            </a:avLst>
          </a:prstGeom>
          <a:solidFill>
            <a:srgbClr val="FFFFFF"/>
          </a:solidFill>
          <a:ln/>
        </p:spPr>
      </p:sp>
      <p:pic>
        <p:nvPicPr>
          <p:cNvPr id="15" name="Image 0" descr="Nuage de points : les étudiants qui réussissent sont en haut à droite, ceux qui échouent en bas à gauche, séparés par la droite x2 = 10 − 0,8 x1 ; un nouveau point (6 ; 6) tombe du côté réussite">    </p:cNvPr>
          <p:cNvPicPr>
            <a:picLocks noChangeAspect="1"/>
          </p:cNvPicPr>
          <p:nvPr/>
        </p:nvPicPr>
        <p:blipFill>
          <a:blip r:embed="rId1"/>
          <a:srcRect l="0" r="0" t="0" b="0"/>
          <a:stretch/>
        </p:blipFill>
        <p:spPr>
          <a:xfrm>
            <a:off x="7569200" y="1899920"/>
            <a:ext cx="3810000" cy="3810000"/>
          </a:xfrm>
          <a:prstGeom prst="roundRect">
            <a:avLst>
              <a:gd name="adj" fmla="val 2667"/>
            </a:avLst>
          </a:prstGeom>
        </p:spPr>
      </p:pic>
      <p:sp>
        <p:nvSpPr>
          <p:cNvPr id="16" name="Text 13"/>
          <p:cNvSpPr/>
          <p:nvPr/>
        </p:nvSpPr>
        <p:spPr>
          <a:xfrm>
            <a:off x="9588500" y="3741420"/>
            <a:ext cx="812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41C"/>
                </a:solidFill>
                <a:latin typeface="IBM Plex Sans" pitchFamily="34" charset="0"/>
                <a:ea typeface="IBM Plex Sans" pitchFamily="34" charset="-122"/>
                <a:cs typeface="IBM Plex Sans" pitchFamily="34" charset="-120"/>
              </a:rPr>
              <a:t>nouveau</a:t>
            </a:r>
            <a:endParaRPr lang="en-US" sz="1200" dirty="0"/>
          </a:p>
        </p:txBody>
      </p:sp>
      <p:sp>
        <p:nvSpPr>
          <p:cNvPr id="17" name="Text 14"/>
          <p:cNvSpPr/>
          <p:nvPr/>
        </p:nvSpPr>
        <p:spPr>
          <a:xfrm>
            <a:off x="9613900" y="5201920"/>
            <a:ext cx="1574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révision (h) →</a:t>
            </a:r>
            <a:endParaRPr lang="en-US" sz="1200" dirty="0"/>
          </a:p>
        </p:txBody>
      </p:sp>
      <p:sp>
        <p:nvSpPr>
          <p:cNvPr id="18" name="Text 15"/>
          <p:cNvSpPr/>
          <p:nvPr/>
        </p:nvSpPr>
        <p:spPr>
          <a:xfrm>
            <a:off x="7899400" y="2179320"/>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sommeil (h)</a:t>
            </a:r>
            <a:endParaRPr lang="en-US" sz="1200" dirty="0"/>
          </a:p>
        </p:txBody>
      </p:sp>
      <p:sp>
        <p:nvSpPr>
          <p:cNvPr id="19" name="Text 16"/>
          <p:cNvSpPr/>
          <p:nvPr/>
        </p:nvSpPr>
        <p:spPr>
          <a:xfrm>
            <a:off x="812800" y="6238239"/>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04</a:t>
            </a:r>
            <a:endParaRPr lang="en-US" sz="1200" dirty="0"/>
          </a:p>
        </p:txBody>
      </p:sp>
      <p:sp>
        <p:nvSpPr>
          <p:cNvPr id="20" name="Text 17"/>
          <p:cNvSpPr/>
          <p:nvPr/>
        </p:nvSpPr>
        <p:spPr>
          <a:xfrm>
            <a:off x="5492750" y="6238239"/>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réussi (1) · ● échoué (0) · zone orangée : ŷ = 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EXEMPLE · 3 CARACTÉRISTIQUES</a:t>
            </a:r>
            <a:endParaRPr lang="en-US" sz="1200" dirty="0"/>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Orange ou pomme : un plan</a:t>
            </a:r>
            <a:endParaRPr lang="en-US" sz="3200" dirty="0"/>
          </a:p>
        </p:txBody>
      </p:sp>
      <p:sp>
        <p:nvSpPr>
          <p:cNvPr id="4" name="Text 2"/>
          <p:cNvSpPr/>
          <p:nvPr/>
        </p:nvSpPr>
        <p:spPr>
          <a:xfrm>
            <a:off x="812800" y="1899921"/>
            <a:ext cx="664514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x₁</a:t>
            </a:r>
            <a:r>
              <a:rPr lang="en-US" sz="1500" dirty="0">
                <a:solidFill>
                  <a:srgbClr val="4A5568"/>
                </a:solidFill>
                <a:latin typeface="IBM Plex Sans" pitchFamily="34" charset="0"/>
                <a:ea typeface="IBM Plex Sans" pitchFamily="34" charset="-122"/>
                <a:cs typeface="IBM Plex Sans" pitchFamily="34" charset="-120"/>
              </a:rPr>
              <a:t> = poids · </a:t>
            </a:r>
            <a:r>
              <a:rPr lang="en-US" sz="1500" b="1" dirty="0">
                <a:solidFill>
                  <a:srgbClr val="14213D"/>
                </a:solidFill>
                <a:latin typeface="IBM Plex Sans" pitchFamily="34" charset="0"/>
                <a:ea typeface="IBM Plex Sans" pitchFamily="34" charset="-122"/>
                <a:cs typeface="IBM Plex Sans" pitchFamily="34" charset="-120"/>
              </a:rPr>
              <a:t>x₂</a:t>
            </a:r>
            <a:r>
              <a:rPr lang="en-US" sz="1500" dirty="0">
                <a:solidFill>
                  <a:srgbClr val="4A5568"/>
                </a:solidFill>
                <a:latin typeface="IBM Plex Sans" pitchFamily="34" charset="0"/>
                <a:ea typeface="IBM Plex Sans" pitchFamily="34" charset="-122"/>
                <a:cs typeface="IBM Plex Sans" pitchFamily="34" charset="-120"/>
              </a:rPr>
              <a:t> = diamètre · </a:t>
            </a:r>
            <a:r>
              <a:rPr lang="en-US" sz="1500" b="1" dirty="0">
                <a:solidFill>
                  <a:srgbClr val="14213D"/>
                </a:solidFill>
                <a:latin typeface="IBM Plex Sans" pitchFamily="34" charset="0"/>
                <a:ea typeface="IBM Plex Sans" pitchFamily="34" charset="-122"/>
                <a:cs typeface="IBM Plex Sans" pitchFamily="34" charset="-120"/>
              </a:rPr>
              <a:t>x₃</a:t>
            </a:r>
            <a:r>
              <a:rPr lang="en-US" sz="1500" dirty="0">
                <a:solidFill>
                  <a:srgbClr val="4A5568"/>
                </a:solidFill>
                <a:latin typeface="IBM Plex Sans" pitchFamily="34" charset="0"/>
                <a:ea typeface="IBM Plex Sans" pitchFamily="34" charset="-122"/>
                <a:cs typeface="IBM Plex Sans" pitchFamily="34" charset="-120"/>
              </a:rPr>
              <a:t> = teinte orangée</a:t>
            </a:r>
            <a:endParaRPr lang="en-US" sz="1500" dirty="0"/>
          </a:p>
        </p:txBody>
      </p:sp>
      <p:sp>
        <p:nvSpPr>
          <p:cNvPr id="5" name="Text 3"/>
          <p:cNvSpPr/>
          <p:nvPr/>
        </p:nvSpPr>
        <p:spPr>
          <a:xfrm>
            <a:off x="812800" y="2242821"/>
            <a:ext cx="664514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Valeurs ramenées entre 0 et 1 · classe 1 = orange, 0 = pomme</a:t>
            </a:r>
            <a:endParaRPr lang="en-US" sz="1500" dirty="0"/>
          </a:p>
        </p:txBody>
      </p:sp>
      <p:sp>
        <p:nvSpPr>
          <p:cNvPr id="6" name="Shape 4"/>
          <p:cNvSpPr/>
          <p:nvPr/>
        </p:nvSpPr>
        <p:spPr>
          <a:xfrm>
            <a:off x="812800" y="2837182"/>
            <a:ext cx="6451600" cy="1341120"/>
          </a:xfrm>
          <a:prstGeom prst="roundRect">
            <a:avLst>
              <a:gd name="adj" fmla="val 7576"/>
            </a:avLst>
          </a:prstGeom>
          <a:solidFill>
            <a:srgbClr val="14213D"/>
          </a:solidFill>
          <a:ln/>
        </p:spPr>
      </p:sp>
      <p:sp>
        <p:nvSpPr>
          <p:cNvPr id="7" name="Text 5"/>
          <p:cNvSpPr/>
          <p:nvPr/>
        </p:nvSpPr>
        <p:spPr>
          <a:xfrm>
            <a:off x="1066800" y="3040382"/>
            <a:ext cx="61219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9A5B"/>
                </a:solidFill>
                <a:latin typeface="IBM Plex Sans" pitchFamily="34" charset="0"/>
                <a:ea typeface="IBM Plex Sans" pitchFamily="34" charset="-122"/>
                <a:cs typeface="IBM Plex Sans" pitchFamily="34" charset="-120"/>
              </a:rPr>
              <a:t>FRONTIÈRE APPRISE</a:t>
            </a:r>
            <a:endParaRPr lang="en-US" sz="1200" dirty="0"/>
          </a:p>
        </p:txBody>
      </p:sp>
      <p:sp>
        <p:nvSpPr>
          <p:cNvPr id="8" name="Text 6"/>
          <p:cNvSpPr/>
          <p:nvPr/>
        </p:nvSpPr>
        <p:spPr>
          <a:xfrm>
            <a:off x="1066800" y="3329939"/>
            <a:ext cx="612190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4EE"/>
                </a:solidFill>
                <a:latin typeface="JetBrains Mono" pitchFamily="49" charset="0"/>
                <a:ea typeface="JetBrains Mono" pitchFamily="49" charset="-122"/>
                <a:cs typeface="JetBrains Mono" pitchFamily="49" charset="-120"/>
              </a:rPr>
              <a:t>x₁ + x₂ + 2·x₃ − 2 = 0</a:t>
            </a:r>
            <a:endParaRPr lang="en-US" sz="1600" dirty="0"/>
          </a:p>
        </p:txBody>
      </p:sp>
      <p:sp>
        <p:nvSpPr>
          <p:cNvPr id="9" name="Text 7"/>
          <p:cNvSpPr/>
          <p:nvPr/>
        </p:nvSpPr>
        <p:spPr>
          <a:xfrm>
            <a:off x="1066800" y="3690621"/>
            <a:ext cx="6121908"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09A5B"/>
                </a:solidFill>
                <a:latin typeface="JetBrains Mono" pitchFamily="49" charset="0"/>
                <a:ea typeface="JetBrains Mono" pitchFamily="49" charset="-122"/>
                <a:cs typeface="JetBrains Mono" pitchFamily="49" charset="-120"/>
              </a:rPr>
              <a:t>⇔ x₃ = 1 − (x₁ + x₂) / 2</a:t>
            </a:r>
            <a:endParaRPr lang="en-US" sz="1600" dirty="0"/>
          </a:p>
        </p:txBody>
      </p:sp>
      <p:sp>
        <p:nvSpPr>
          <p:cNvPr id="10" name="Shape 8"/>
          <p:cNvSpPr/>
          <p:nvPr/>
        </p:nvSpPr>
        <p:spPr>
          <a:xfrm>
            <a:off x="815975" y="4509136"/>
            <a:ext cx="6445250" cy="1197610"/>
          </a:xfrm>
          <a:prstGeom prst="roundRect">
            <a:avLst>
              <a:gd name="adj" fmla="val 8218"/>
            </a:avLst>
          </a:prstGeom>
          <a:solidFill>
            <a:srgbClr val="FFFFFF"/>
          </a:solidFill>
          <a:ln w="6350">
            <a:solidFill>
              <a:srgbClr val="DDD8CB"/>
            </a:solidFill>
            <a:prstDash val="solid"/>
          </a:ln>
        </p:spPr>
      </p:sp>
      <p:sp>
        <p:nvSpPr>
          <p:cNvPr id="11" name="Text 9"/>
          <p:cNvSpPr/>
          <p:nvPr/>
        </p:nvSpPr>
        <p:spPr>
          <a:xfrm>
            <a:off x="1071880" y="4688839"/>
            <a:ext cx="6111443"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FRUIT : (0,8 ; 0,7 ; 0,9)</a:t>
            </a:r>
            <a:endParaRPr lang="en-US" sz="1200" dirty="0"/>
          </a:p>
        </p:txBody>
      </p:sp>
      <p:sp>
        <p:nvSpPr>
          <p:cNvPr id="12" name="Text 10"/>
          <p:cNvSpPr/>
          <p:nvPr/>
        </p:nvSpPr>
        <p:spPr>
          <a:xfrm>
            <a:off x="1071880" y="4965700"/>
            <a:ext cx="61114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 = 0,8 + 0,7 + 1,8 − 2 = </a:t>
            </a:r>
            <a:r>
              <a:rPr lang="en-US" sz="1400" b="1" dirty="0">
                <a:solidFill>
                  <a:srgbClr val="14213D"/>
                </a:solidFill>
                <a:latin typeface="JetBrains Mono" pitchFamily="49" charset="0"/>
                <a:ea typeface="JetBrains Mono" pitchFamily="49" charset="-122"/>
                <a:cs typeface="JetBrains Mono" pitchFamily="49" charset="-120"/>
              </a:rPr>
              <a:t>1,3</a:t>
            </a:r>
            <a:r>
              <a:rPr lang="en-US" sz="1400" dirty="0">
                <a:solidFill>
                  <a:srgbClr val="14213D"/>
                </a:solidFill>
                <a:latin typeface="JetBrains Mono" pitchFamily="49" charset="0"/>
                <a:ea typeface="JetBrains Mono" pitchFamily="49" charset="-122"/>
                <a:cs typeface="JetBrains Mono" pitchFamily="49" charset="-120"/>
              </a:rPr>
              <a:t> &gt; 0</a:t>
            </a:r>
            <a:endParaRPr lang="en-US" sz="1400" dirty="0"/>
          </a:p>
        </p:txBody>
      </p:sp>
      <p:sp>
        <p:nvSpPr>
          <p:cNvPr id="13" name="Text 11"/>
          <p:cNvSpPr/>
          <p:nvPr/>
        </p:nvSpPr>
        <p:spPr>
          <a:xfrm>
            <a:off x="1071880" y="5278121"/>
            <a:ext cx="6111443"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IBM Plex Sans" pitchFamily="34" charset="0"/>
                <a:ea typeface="IBM Plex Sans" pitchFamily="34" charset="-122"/>
                <a:cs typeface="IBM Plex Sans" pitchFamily="34" charset="-120"/>
              </a:rPr>
              <a:t>→ ŷ = 1 : orange, au-dessus du plan</a:t>
            </a:r>
            <a:endParaRPr lang="en-US" sz="1400" dirty="0"/>
          </a:p>
        </p:txBody>
      </p:sp>
      <p:sp>
        <p:nvSpPr>
          <p:cNvPr id="14" name="Shape 12"/>
          <p:cNvSpPr/>
          <p:nvPr/>
        </p:nvSpPr>
        <p:spPr>
          <a:xfrm>
            <a:off x="7569200" y="1899921"/>
            <a:ext cx="3810000" cy="3810000"/>
          </a:xfrm>
          <a:prstGeom prst="roundRect">
            <a:avLst>
              <a:gd name="adj" fmla="val 2667"/>
            </a:avLst>
          </a:prstGeom>
          <a:solidFill>
            <a:srgbClr val="FFFFFF"/>
          </a:solidFill>
          <a:ln/>
        </p:spPr>
      </p:sp>
      <p:pic>
        <p:nvPicPr>
          <p:cNvPr id="15" name="Image 0" descr="Vue en perspective d’un cube : un plan incliné le traverse ; les oranges sont au-dessus du plan, les pommes en dessous, chaque point relié au plan par un trait pointillé vertical">    </p:cNvPr>
          <p:cNvPicPr>
            <a:picLocks noChangeAspect="1"/>
          </p:cNvPicPr>
          <p:nvPr/>
        </p:nvPicPr>
        <p:blipFill>
          <a:blip r:embed="rId1"/>
          <a:srcRect l="0" r="0" t="0" b="0"/>
          <a:stretch/>
        </p:blipFill>
        <p:spPr>
          <a:xfrm>
            <a:off x="7569200" y="1899921"/>
            <a:ext cx="3810000" cy="3810000"/>
          </a:xfrm>
          <a:prstGeom prst="roundRect">
            <a:avLst>
              <a:gd name="adj" fmla="val 2667"/>
            </a:avLst>
          </a:prstGeom>
        </p:spPr>
      </p:pic>
      <p:sp>
        <p:nvSpPr>
          <p:cNvPr id="16" name="Text 13"/>
          <p:cNvSpPr/>
          <p:nvPr/>
        </p:nvSpPr>
        <p:spPr>
          <a:xfrm>
            <a:off x="10185400" y="4693921"/>
            <a:ext cx="1130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x₁ poids</a:t>
            </a:r>
            <a:endParaRPr lang="en-US" sz="1200" dirty="0"/>
          </a:p>
        </p:txBody>
      </p:sp>
      <p:sp>
        <p:nvSpPr>
          <p:cNvPr id="17" name="Text 14"/>
          <p:cNvSpPr/>
          <p:nvPr/>
        </p:nvSpPr>
        <p:spPr>
          <a:xfrm>
            <a:off x="7645400" y="4693921"/>
            <a:ext cx="1257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x₂ diamètre</a:t>
            </a:r>
            <a:endParaRPr lang="en-US" sz="1200" dirty="0"/>
          </a:p>
        </p:txBody>
      </p:sp>
      <p:sp>
        <p:nvSpPr>
          <p:cNvPr id="18" name="Text 15"/>
          <p:cNvSpPr/>
          <p:nvPr/>
        </p:nvSpPr>
        <p:spPr>
          <a:xfrm>
            <a:off x="9550400" y="2128521"/>
            <a:ext cx="1320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x₃ teinte</a:t>
            </a:r>
            <a:endParaRPr lang="en-US" sz="1200" dirty="0"/>
          </a:p>
        </p:txBody>
      </p:sp>
      <p:sp>
        <p:nvSpPr>
          <p:cNvPr id="19" name="Text 16"/>
          <p:cNvSpPr/>
          <p:nvPr/>
        </p:nvSpPr>
        <p:spPr>
          <a:xfrm>
            <a:off x="812800" y="6238239"/>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05</a:t>
            </a:r>
            <a:endParaRPr lang="en-US" sz="1200" dirty="0"/>
          </a:p>
        </p:txBody>
      </p:sp>
      <p:sp>
        <p:nvSpPr>
          <p:cNvPr id="20" name="Text 17"/>
          <p:cNvSpPr/>
          <p:nvPr/>
        </p:nvSpPr>
        <p:spPr>
          <a:xfrm>
            <a:off x="5492750" y="6238239"/>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orange (1) · ● pomme (0) · surface orangée : le plan y = 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EXEMPLE · N = 5 CARACTÉRISTIQUES</a:t>
            </a:r>
            <a:endParaRPr lang="en-US" sz="1200" dirty="0"/>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Spam ou non : un hyperplan</a:t>
            </a:r>
            <a:endParaRPr lang="en-US" sz="3200" dirty="0"/>
          </a:p>
        </p:txBody>
      </p:sp>
      <p:sp>
        <p:nvSpPr>
          <p:cNvPr id="4" name="Shape 2"/>
          <p:cNvSpPr/>
          <p:nvPr/>
        </p:nvSpPr>
        <p:spPr>
          <a:xfrm>
            <a:off x="812800" y="1849121"/>
            <a:ext cx="5715000" cy="250825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859281"/>
          <a:ext cx="5704840" cy="2498090"/>
        </p:xfrm>
        <a:graphic>
          <a:graphicData uri="http://schemas.openxmlformats.org/drawingml/2006/table">
            <a:tbl>
              <a:tblPr/>
              <a:tblGrid>
                <a:gridCol w="2624226"/>
                <a:gridCol w="1026871"/>
                <a:gridCol w="1026871"/>
                <a:gridCol w="1026871"/>
              </a:tblGrid>
              <a:tr h="356870">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Caractéristique (0 à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Poids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E-mail 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E-mail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x₁ nombre de liens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x₂ mot « gratuit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x₃ part de majuscules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x₄ expéditeur connu</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x₅ longueur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biais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A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A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BB8AF"/>
                      </a:solidFill>
                      <a:prstDash val="solid"/>
                      <a:round/>
                      <a:headEnd type="none" w="med" len="med"/>
                      <a:tailEnd type="none" w="med" len="med"/>
                    </a:lnL>
                    <a:lnR w="12700" cap="flat" cmpd="sng" algn="ctr">
                      <a:solidFill>
                        <a:srgbClr val="BBB8AF"/>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BB8AF"/>
                      </a:solidFill>
                      <a:prstDash val="solid"/>
                      <a:round/>
                      <a:headEnd type="none" w="med" len="med"/>
                      <a:tailEnd type="none" w="med" len="med"/>
                    </a:lnB>
                    <a:solidFill>
                      <a:srgbClr val="EAE6DB"/>
                    </a:solidFill>
                  </a:tcPr>
                </a:tc>
              </a:tr>
            </a:tbl>
          </a:graphicData>
        </a:graphic>
      </p:graphicFrame>
      <p:sp>
        <p:nvSpPr>
          <p:cNvPr id="6" name="Shape 3"/>
          <p:cNvSpPr/>
          <p:nvPr/>
        </p:nvSpPr>
        <p:spPr>
          <a:xfrm>
            <a:off x="6791325" y="1858646"/>
            <a:ext cx="4578350" cy="1319530"/>
          </a:xfrm>
          <a:prstGeom prst="roundRect">
            <a:avLst>
              <a:gd name="adj" fmla="val 6978"/>
            </a:avLst>
          </a:prstGeom>
          <a:solidFill>
            <a:srgbClr val="FFFFFF"/>
          </a:solidFill>
          <a:ln w="19050">
            <a:solidFill>
              <a:srgbClr val="B5541C"/>
            </a:solidFill>
            <a:prstDash val="solid"/>
          </a:ln>
        </p:spPr>
      </p:sp>
      <p:sp>
        <p:nvSpPr>
          <p:cNvPr id="7" name="Text 4"/>
          <p:cNvSpPr/>
          <p:nvPr/>
        </p:nvSpPr>
        <p:spPr>
          <a:xfrm>
            <a:off x="7000240" y="2016761"/>
            <a:ext cx="428533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5541C"/>
                </a:solidFill>
                <a:latin typeface="IBM Plex Sans" pitchFamily="34" charset="0"/>
                <a:ea typeface="IBM Plex Sans" pitchFamily="34" charset="-122"/>
                <a:cs typeface="IBM Plex Sans" pitchFamily="34" charset="-120"/>
              </a:rPr>
              <a:t>E-MAIL A</a:t>
            </a:r>
            <a:endParaRPr lang="en-US" sz="1200" dirty="0"/>
          </a:p>
        </p:txBody>
      </p:sp>
      <p:sp>
        <p:nvSpPr>
          <p:cNvPr id="8" name="Text 5"/>
          <p:cNvSpPr/>
          <p:nvPr/>
        </p:nvSpPr>
        <p:spPr>
          <a:xfrm>
            <a:off x="7000240" y="2280921"/>
            <a:ext cx="428533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213D"/>
                </a:solidFill>
                <a:latin typeface="JetBrains Mono" pitchFamily="49" charset="0"/>
                <a:ea typeface="JetBrains Mono" pitchFamily="49" charset="-122"/>
                <a:cs typeface="JetBrains Mono" pitchFamily="49" charset="-120"/>
              </a:rPr>
              <a:t>y = 0,96 + 0,9 + 0,4 − 0</a:t>
            </a:r>
            <a:endParaRPr lang="en-US" sz="1200" dirty="0"/>
          </a:p>
          <a:p>
            <a:pPr algn="l" indent="0" marL="0">
              <a:lnSpc>
                <a:spcPts val="1800"/>
              </a:lnSpc>
              <a:buNone/>
            </a:pPr>
            <a:r>
              <a:rPr lang="en-US" sz="1200" dirty="0">
                <a:solidFill>
                  <a:srgbClr val="14213D"/>
                </a:solidFill>
                <a:latin typeface="JetBrains Mono" pitchFamily="49" charset="0"/>
                <a:ea typeface="JetBrains Mono" pitchFamily="49" charset="-122"/>
                <a:cs typeface="JetBrains Mono" pitchFamily="49" charset="-120"/>
              </a:rPr>
              <a:t>− 0,06 − 0,5 = </a:t>
            </a:r>
            <a:r>
              <a:rPr lang="en-US" sz="1200" b="1" dirty="0">
                <a:solidFill>
                  <a:srgbClr val="14213D"/>
                </a:solidFill>
                <a:latin typeface="JetBrains Mono" pitchFamily="49" charset="0"/>
                <a:ea typeface="JetBrains Mono" pitchFamily="49" charset="-122"/>
                <a:cs typeface="JetBrains Mono" pitchFamily="49" charset="-120"/>
              </a:rPr>
              <a:t>1,7</a:t>
            </a:r>
            <a:r>
              <a:rPr lang="en-US" sz="1200" dirty="0">
                <a:solidFill>
                  <a:srgbClr val="14213D"/>
                </a:solidFill>
                <a:latin typeface="JetBrains Mono" pitchFamily="49" charset="0"/>
                <a:ea typeface="JetBrains Mono" pitchFamily="49" charset="-122"/>
                <a:cs typeface="JetBrains Mono" pitchFamily="49" charset="-120"/>
              </a:rPr>
              <a:t> &gt; 0</a:t>
            </a:r>
            <a:endParaRPr lang="en-US" sz="1200" dirty="0"/>
          </a:p>
        </p:txBody>
      </p:sp>
      <p:sp>
        <p:nvSpPr>
          <p:cNvPr id="9" name="Text 6"/>
          <p:cNvSpPr/>
          <p:nvPr/>
        </p:nvSpPr>
        <p:spPr>
          <a:xfrm>
            <a:off x="7000240" y="2788921"/>
            <a:ext cx="428533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541C"/>
                </a:solidFill>
                <a:latin typeface="IBM Plex Sans" pitchFamily="34" charset="0"/>
                <a:ea typeface="IBM Plex Sans" pitchFamily="34" charset="-122"/>
                <a:cs typeface="IBM Plex Sans" pitchFamily="34" charset="-120"/>
              </a:rPr>
              <a:t>→ ŷ = 1 : spam</a:t>
            </a:r>
            <a:endParaRPr lang="en-US" sz="1300" dirty="0"/>
          </a:p>
        </p:txBody>
      </p:sp>
      <p:sp>
        <p:nvSpPr>
          <p:cNvPr id="10" name="Shape 7"/>
          <p:cNvSpPr/>
          <p:nvPr/>
        </p:nvSpPr>
        <p:spPr>
          <a:xfrm>
            <a:off x="6791325" y="3324225"/>
            <a:ext cx="4578350" cy="1319530"/>
          </a:xfrm>
          <a:prstGeom prst="roundRect">
            <a:avLst>
              <a:gd name="adj" fmla="val 6978"/>
            </a:avLst>
          </a:prstGeom>
          <a:solidFill>
            <a:srgbClr val="FFFFFF"/>
          </a:solidFill>
          <a:ln w="19050">
            <a:solidFill>
              <a:srgbClr val="14213D"/>
            </a:solidFill>
            <a:prstDash val="solid"/>
          </a:ln>
        </p:spPr>
      </p:sp>
      <p:sp>
        <p:nvSpPr>
          <p:cNvPr id="11" name="Text 8"/>
          <p:cNvSpPr/>
          <p:nvPr/>
        </p:nvSpPr>
        <p:spPr>
          <a:xfrm>
            <a:off x="7000240" y="3482339"/>
            <a:ext cx="428533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4213D"/>
                </a:solidFill>
                <a:latin typeface="IBM Plex Sans" pitchFamily="34" charset="0"/>
                <a:ea typeface="IBM Plex Sans" pitchFamily="34" charset="-122"/>
                <a:cs typeface="IBM Plex Sans" pitchFamily="34" charset="-120"/>
              </a:rPr>
              <a:t>E-MAIL B</a:t>
            </a:r>
            <a:endParaRPr lang="en-US" sz="1200" dirty="0"/>
          </a:p>
        </p:txBody>
      </p:sp>
      <p:sp>
        <p:nvSpPr>
          <p:cNvPr id="12" name="Text 9"/>
          <p:cNvSpPr/>
          <p:nvPr/>
        </p:nvSpPr>
        <p:spPr>
          <a:xfrm>
            <a:off x="7000240" y="3746500"/>
            <a:ext cx="4285336" cy="4826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14213D"/>
                </a:solidFill>
                <a:latin typeface="JetBrains Mono" pitchFamily="49" charset="0"/>
                <a:ea typeface="JetBrains Mono" pitchFamily="49" charset="-122"/>
                <a:cs typeface="JetBrains Mono" pitchFamily="49" charset="-120"/>
              </a:rPr>
              <a:t>y = 0,12 + 0 + 0,16 − 2</a:t>
            </a:r>
            <a:endParaRPr lang="en-US" sz="1200" dirty="0"/>
          </a:p>
          <a:p>
            <a:pPr algn="l" indent="0" marL="0">
              <a:lnSpc>
                <a:spcPts val="1800"/>
              </a:lnSpc>
              <a:buNone/>
            </a:pPr>
            <a:r>
              <a:rPr lang="en-US" sz="1200" dirty="0">
                <a:solidFill>
                  <a:srgbClr val="14213D"/>
                </a:solidFill>
                <a:latin typeface="JetBrains Mono" pitchFamily="49" charset="0"/>
                <a:ea typeface="JetBrains Mono" pitchFamily="49" charset="-122"/>
                <a:cs typeface="JetBrains Mono" pitchFamily="49" charset="-120"/>
              </a:rPr>
              <a:t>− 0,18 − 0,5 = </a:t>
            </a:r>
            <a:r>
              <a:rPr lang="en-US" sz="1200" b="1" dirty="0">
                <a:solidFill>
                  <a:srgbClr val="14213D"/>
                </a:solidFill>
                <a:latin typeface="JetBrains Mono" pitchFamily="49" charset="0"/>
                <a:ea typeface="JetBrains Mono" pitchFamily="49" charset="-122"/>
                <a:cs typeface="JetBrains Mono" pitchFamily="49" charset="-120"/>
              </a:rPr>
              <a:t>−2,4</a:t>
            </a:r>
            <a:r>
              <a:rPr lang="en-US" sz="1200" dirty="0">
                <a:solidFill>
                  <a:srgbClr val="14213D"/>
                </a:solidFill>
                <a:latin typeface="JetBrains Mono" pitchFamily="49" charset="0"/>
                <a:ea typeface="JetBrains Mono" pitchFamily="49" charset="-122"/>
                <a:cs typeface="JetBrains Mono" pitchFamily="49" charset="-120"/>
              </a:rPr>
              <a:t> ≤ 0</a:t>
            </a:r>
            <a:endParaRPr lang="en-US" sz="1200" dirty="0"/>
          </a:p>
        </p:txBody>
      </p:sp>
      <p:sp>
        <p:nvSpPr>
          <p:cNvPr id="13" name="Text 10"/>
          <p:cNvSpPr/>
          <p:nvPr/>
        </p:nvSpPr>
        <p:spPr>
          <a:xfrm>
            <a:off x="7000240" y="4254500"/>
            <a:ext cx="428533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 ŷ = 0 : non spam</a:t>
            </a:r>
            <a:endParaRPr lang="en-US" sz="1300" dirty="0"/>
          </a:p>
        </p:txBody>
      </p:sp>
      <p:sp>
        <p:nvSpPr>
          <p:cNvPr id="14" name="Shape 11"/>
          <p:cNvSpPr/>
          <p:nvPr/>
        </p:nvSpPr>
        <p:spPr>
          <a:xfrm>
            <a:off x="812800" y="4907282"/>
            <a:ext cx="10566400" cy="835660"/>
          </a:xfrm>
          <a:prstGeom prst="roundRect">
            <a:avLst>
              <a:gd name="adj" fmla="val 12158"/>
            </a:avLst>
          </a:prstGeom>
          <a:solidFill>
            <a:srgbClr val="14213D"/>
          </a:solidFill>
          <a:ln/>
        </p:spPr>
      </p:sp>
      <p:sp>
        <p:nvSpPr>
          <p:cNvPr id="15" name="Text 12"/>
          <p:cNvSpPr/>
          <p:nvPr/>
        </p:nvSpPr>
        <p:spPr>
          <a:xfrm>
            <a:off x="1066800" y="5059682"/>
            <a:ext cx="1036015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9A5B"/>
                </a:solidFill>
                <a:latin typeface="JetBrains Mono" pitchFamily="49" charset="0"/>
                <a:ea typeface="JetBrains Mono" pitchFamily="49" charset="-122"/>
                <a:cs typeface="JetBrains Mono" pitchFamily="49" charset="-120"/>
              </a:rPr>
              <a:t>1,2·x₁ + 1,5·x₂ + 0,8·x₃ − 2·x₄ − 0,3·x₅ − 0,5 = 0</a:t>
            </a:r>
            <a:endParaRPr lang="en-US" sz="1400" dirty="0"/>
          </a:p>
        </p:txBody>
      </p:sp>
      <p:sp>
        <p:nvSpPr>
          <p:cNvPr id="16" name="Text 13"/>
          <p:cNvSpPr/>
          <p:nvPr/>
        </p:nvSpPr>
        <p:spPr>
          <a:xfrm>
            <a:off x="1066800" y="5359400"/>
            <a:ext cx="1036015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9DA"/>
                </a:solidFill>
                <a:latin typeface="IBM Plex Sans" pitchFamily="34" charset="0"/>
                <a:ea typeface="IBM Plex Sans" pitchFamily="34" charset="-122"/>
                <a:cs typeface="IBM Plex Sans" pitchFamily="34" charset="-120"/>
              </a:rPr>
              <a:t>Impossible à dessiner en 5 dimensions : on classe avec le </a:t>
            </a:r>
            <a:r>
              <a:rPr lang="en-US" sz="1300" b="1" dirty="0">
                <a:solidFill>
                  <a:srgbClr val="F6F4EE"/>
                </a:solidFill>
                <a:latin typeface="IBM Plex Sans" pitchFamily="34" charset="0"/>
                <a:ea typeface="IBM Plex Sans" pitchFamily="34" charset="-122"/>
                <a:cs typeface="IBM Plex Sans" pitchFamily="34" charset="-120"/>
              </a:rPr>
              <a:t>signe de y</a:t>
            </a:r>
            <a:r>
              <a:rPr lang="en-US" sz="1300" dirty="0">
                <a:solidFill>
                  <a:srgbClr val="BFC9DA"/>
                </a:solidFill>
                <a:latin typeface="IBM Plex Sans" pitchFamily="34" charset="0"/>
                <a:ea typeface="IBM Plex Sans" pitchFamily="34" charset="-122"/>
                <a:cs typeface="IBM Plex Sans" pitchFamily="34" charset="-120"/>
              </a:rPr>
              <a:t>, exactement comme en 2D.</a:t>
            </a:r>
            <a:endParaRPr lang="en-US" sz="1300" dirty="0"/>
          </a:p>
        </p:txBody>
      </p:sp>
      <p:sp>
        <p:nvSpPr>
          <p:cNvPr id="17" name="Text 14"/>
          <p:cNvSpPr/>
          <p:nvPr/>
        </p:nvSpPr>
        <p:spPr>
          <a:xfrm>
            <a:off x="812800" y="6238239"/>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FONCTIONNEMENT</a:t>
            </a:r>
            <a:endParaRPr lang="en-US" sz="1200" dirty="0"/>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Une itération en deux phases</a:t>
            </a:r>
            <a:endParaRPr lang="en-US" sz="3200" dirty="0"/>
          </a:p>
        </p:txBody>
      </p:sp>
      <p:pic>
        <p:nvPicPr>
          <p:cNvPr id="4" name="Image 0" descr="connector">    </p:cNvPr>
          <p:cNvPicPr>
            <a:picLocks noChangeAspect="1"/>
          </p:cNvPicPr>
          <p:nvPr/>
        </p:nvPicPr>
        <p:blipFill>
          <a:blip r:embed="rId1"/>
          <a:srcRect l="0" r="0" t="0" b="0"/>
          <a:stretch/>
        </p:blipFill>
        <p:spPr>
          <a:xfrm>
            <a:off x="1981200" y="2311400"/>
            <a:ext cx="3314700" cy="1460500"/>
          </a:xfrm>
          <a:prstGeom prst="rect">
            <a:avLst/>
          </a:prstGeom>
        </p:spPr>
      </p:pic>
      <p:pic>
        <p:nvPicPr>
          <p:cNvPr id="5" name="Image 1" descr="connector">    </p:cNvPr>
          <p:cNvPicPr>
            <a:picLocks noChangeAspect="1"/>
          </p:cNvPicPr>
          <p:nvPr/>
        </p:nvPicPr>
        <p:blipFill>
          <a:blip r:embed="rId2"/>
          <a:srcRect l="0" r="0" t="0" b="0"/>
          <a:stretch/>
        </p:blipFill>
        <p:spPr>
          <a:xfrm>
            <a:off x="1981200" y="3136900"/>
            <a:ext cx="3289300" cy="685800"/>
          </a:xfrm>
          <a:prstGeom prst="rect">
            <a:avLst/>
          </a:prstGeom>
        </p:spPr>
      </p:pic>
      <p:pic>
        <p:nvPicPr>
          <p:cNvPr id="6" name="Image 2" descr="connector">    </p:cNvPr>
          <p:cNvPicPr>
            <a:picLocks noChangeAspect="1"/>
          </p:cNvPicPr>
          <p:nvPr/>
        </p:nvPicPr>
        <p:blipFill>
          <a:blip r:embed="rId3"/>
          <a:srcRect l="0" r="0" t="0" b="0"/>
          <a:stretch/>
        </p:blipFill>
        <p:spPr>
          <a:xfrm>
            <a:off x="1981200" y="3797300"/>
            <a:ext cx="3289300" cy="266700"/>
          </a:xfrm>
          <a:prstGeom prst="rect">
            <a:avLst/>
          </a:prstGeom>
        </p:spPr>
      </p:pic>
      <p:pic>
        <p:nvPicPr>
          <p:cNvPr id="7" name="Image 3" descr="connector">    </p:cNvPr>
          <p:cNvPicPr>
            <a:picLocks noChangeAspect="1"/>
          </p:cNvPicPr>
          <p:nvPr/>
        </p:nvPicPr>
        <p:blipFill>
          <a:blip r:embed="rId4"/>
          <a:srcRect l="0" r="0" t="0" b="0"/>
          <a:stretch/>
        </p:blipFill>
        <p:spPr>
          <a:xfrm>
            <a:off x="1981200" y="4013200"/>
            <a:ext cx="3340100" cy="1066800"/>
          </a:xfrm>
          <a:prstGeom prst="rect">
            <a:avLst/>
          </a:prstGeom>
        </p:spPr>
      </p:pic>
      <p:pic>
        <p:nvPicPr>
          <p:cNvPr id="8" name="Image 4" descr="connector">    </p:cNvPr>
          <p:cNvPicPr>
            <a:picLocks noChangeAspect="1"/>
          </p:cNvPicPr>
          <p:nvPr/>
        </p:nvPicPr>
        <p:blipFill>
          <a:blip r:embed="rId5"/>
          <a:srcRect l="0" r="0" t="0" b="0"/>
          <a:stretch/>
        </p:blipFill>
        <p:spPr>
          <a:xfrm>
            <a:off x="6426200" y="3759200"/>
            <a:ext cx="1092200" cy="101600"/>
          </a:xfrm>
          <a:prstGeom prst="rect">
            <a:avLst/>
          </a:prstGeom>
        </p:spPr>
      </p:pic>
      <p:pic>
        <p:nvPicPr>
          <p:cNvPr id="9" name="Image 5" descr="connector">    </p:cNvPr>
          <p:cNvPicPr>
            <a:picLocks noChangeAspect="1"/>
          </p:cNvPicPr>
          <p:nvPr/>
        </p:nvPicPr>
        <p:blipFill>
          <a:blip r:embed="rId6"/>
          <a:srcRect l="0" r="0" t="0" b="0"/>
          <a:stretch/>
        </p:blipFill>
        <p:spPr>
          <a:xfrm>
            <a:off x="8839200" y="3759200"/>
            <a:ext cx="965200" cy="101600"/>
          </a:xfrm>
          <a:prstGeom prst="rect">
            <a:avLst/>
          </a:prstGeom>
        </p:spPr>
      </p:pic>
      <p:sp>
        <p:nvSpPr>
          <p:cNvPr id="10" name="Text 2"/>
          <p:cNvSpPr/>
          <p:nvPr/>
        </p:nvSpPr>
        <p:spPr>
          <a:xfrm>
            <a:off x="1022350" y="2165350"/>
            <a:ext cx="1003300" cy="393700"/>
          </a:xfrm>
          <a:custGeom>
            <a:avLst/>
            <a:gdLst/>
            <a:ahLst/>
            <a:cxnLst/>
            <a:rect l="l" t="t" r="r" b="b"/>
            <a:pathLst>
              <a:path w="1003300" h="393700">
                <a:moveTo>
                  <a:pt x="196850" y="0"/>
                </a:moveTo>
                <a:lnTo>
                  <a:pt x="806450" y="0"/>
                </a:lnTo>
                <a:arcTo hR="196850" wR="196850" stAng="16200000" swAng="5400000"/>
                <a:lnTo>
                  <a:pt x="1003300" y="196850"/>
                </a:lnTo>
                <a:arcTo hR="196850" wR="196850" stAng="0" swAng="5400000"/>
                <a:lnTo>
                  <a:pt x="196850" y="393700"/>
                </a:lnTo>
                <a:arcTo hR="196850" wR="196850" stAng="5400000" swAng="5400000"/>
                <a:lnTo>
                  <a:pt x="0" y="196850"/>
                </a:lnTo>
                <a:arcTo hR="196850" wR="196850" stAng="10800000" swAng="5400000"/>
                <a:close/>
              </a:path>
            </a:pathLst>
          </a:custGeom>
          <a:solidFill>
            <a:srgbClr val="FFFFFF"/>
          </a:solidFill>
          <a:ln w="12700">
            <a:solidFill>
              <a:srgbClr val="14213D"/>
            </a:solidFill>
            <a:prstDash val="solid"/>
          </a:ln>
        </p:spPr>
        <p:txBody>
          <a:bodyPr wrap="square" lIns="0" tIns="3810" rIns="0" bIns="0" rtlCol="0" anchor="t">
            <a:normAutofit/>
          </a:bodyPr>
          <a:lstStyle/>
          <a:p>
            <a:pPr algn="ctr" indent="0" marL="0">
              <a:lnSpc>
                <a:spcPts val="3061"/>
              </a:lnSpc>
              <a:buNone/>
            </a:pPr>
            <a:r>
              <a:rPr lang="en-US" sz="1458" dirty="0">
                <a:solidFill>
                  <a:srgbClr val="14213D"/>
                </a:solidFill>
                <a:latin typeface="JetBrains Mono" pitchFamily="49" charset="0"/>
                <a:ea typeface="JetBrains Mono" pitchFamily="49" charset="-122"/>
                <a:cs typeface="JetBrains Mono" pitchFamily="49" charset="-120"/>
              </a:rPr>
              <a:t>x₁</a:t>
            </a:r>
            <a:endParaRPr lang="en-US" sz="1458" dirty="0"/>
          </a:p>
        </p:txBody>
      </p:sp>
      <p:sp>
        <p:nvSpPr>
          <p:cNvPr id="11" name="Text 3"/>
          <p:cNvSpPr/>
          <p:nvPr/>
        </p:nvSpPr>
        <p:spPr>
          <a:xfrm>
            <a:off x="1022350" y="2990850"/>
            <a:ext cx="1003300" cy="393700"/>
          </a:xfrm>
          <a:custGeom>
            <a:avLst/>
            <a:gdLst/>
            <a:ahLst/>
            <a:cxnLst/>
            <a:rect l="l" t="t" r="r" b="b"/>
            <a:pathLst>
              <a:path w="1003300" h="393700">
                <a:moveTo>
                  <a:pt x="196850" y="0"/>
                </a:moveTo>
                <a:lnTo>
                  <a:pt x="806450" y="0"/>
                </a:lnTo>
                <a:arcTo hR="196850" wR="196850" stAng="16200000" swAng="5400000"/>
                <a:lnTo>
                  <a:pt x="1003300" y="196850"/>
                </a:lnTo>
                <a:arcTo hR="196850" wR="196850" stAng="0" swAng="5400000"/>
                <a:lnTo>
                  <a:pt x="196850" y="393700"/>
                </a:lnTo>
                <a:arcTo hR="196850" wR="196850" stAng="5400000" swAng="5400000"/>
                <a:lnTo>
                  <a:pt x="0" y="196850"/>
                </a:lnTo>
                <a:arcTo hR="196850" wR="196850" stAng="10800000" swAng="5400000"/>
                <a:close/>
              </a:path>
            </a:pathLst>
          </a:custGeom>
          <a:solidFill>
            <a:srgbClr val="FFFFFF"/>
          </a:solidFill>
          <a:ln w="12700">
            <a:solidFill>
              <a:srgbClr val="14213D"/>
            </a:solidFill>
            <a:prstDash val="solid"/>
          </a:ln>
        </p:spPr>
        <p:txBody>
          <a:bodyPr wrap="square" lIns="0" tIns="3810" rIns="0" bIns="0" rtlCol="0" anchor="t">
            <a:normAutofit/>
          </a:bodyPr>
          <a:lstStyle/>
          <a:p>
            <a:pPr algn="ctr" indent="0" marL="0">
              <a:lnSpc>
                <a:spcPts val="3061"/>
              </a:lnSpc>
              <a:buNone/>
            </a:pPr>
            <a:r>
              <a:rPr lang="en-US" sz="1458" dirty="0">
                <a:solidFill>
                  <a:srgbClr val="14213D"/>
                </a:solidFill>
                <a:latin typeface="JetBrains Mono" pitchFamily="49" charset="0"/>
                <a:ea typeface="JetBrains Mono" pitchFamily="49" charset="-122"/>
                <a:cs typeface="JetBrains Mono" pitchFamily="49" charset="-120"/>
              </a:rPr>
              <a:t>x₂</a:t>
            </a:r>
            <a:endParaRPr lang="en-US" sz="1458" dirty="0"/>
          </a:p>
        </p:txBody>
      </p:sp>
      <p:sp>
        <p:nvSpPr>
          <p:cNvPr id="12" name="Text 4"/>
          <p:cNvSpPr/>
          <p:nvPr/>
        </p:nvSpPr>
        <p:spPr>
          <a:xfrm>
            <a:off x="1022350" y="3816350"/>
            <a:ext cx="1003300" cy="393700"/>
          </a:xfrm>
          <a:custGeom>
            <a:avLst/>
            <a:gdLst/>
            <a:ahLst/>
            <a:cxnLst/>
            <a:rect l="l" t="t" r="r" b="b"/>
            <a:pathLst>
              <a:path w="1003300" h="393700">
                <a:moveTo>
                  <a:pt x="196850" y="0"/>
                </a:moveTo>
                <a:lnTo>
                  <a:pt x="806450" y="0"/>
                </a:lnTo>
                <a:arcTo hR="196850" wR="196850" stAng="16200000" swAng="5400000"/>
                <a:lnTo>
                  <a:pt x="1003300" y="196850"/>
                </a:lnTo>
                <a:arcTo hR="196850" wR="196850" stAng="0" swAng="5400000"/>
                <a:lnTo>
                  <a:pt x="196850" y="393700"/>
                </a:lnTo>
                <a:arcTo hR="196850" wR="196850" stAng="5400000" swAng="5400000"/>
                <a:lnTo>
                  <a:pt x="0" y="196850"/>
                </a:lnTo>
                <a:arcTo hR="196850" wR="196850" stAng="10800000" swAng="5400000"/>
                <a:close/>
              </a:path>
            </a:pathLst>
          </a:custGeom>
          <a:solidFill>
            <a:srgbClr val="FFFFFF"/>
          </a:solidFill>
          <a:ln w="12700">
            <a:solidFill>
              <a:srgbClr val="14213D"/>
            </a:solidFill>
            <a:prstDash val="solid"/>
          </a:ln>
        </p:spPr>
        <p:txBody>
          <a:bodyPr wrap="square" lIns="0" tIns="3810" rIns="0" bIns="0" rtlCol="0" anchor="t">
            <a:normAutofit/>
          </a:bodyPr>
          <a:lstStyle/>
          <a:p>
            <a:pPr algn="ctr" indent="0" marL="0">
              <a:lnSpc>
                <a:spcPts val="3061"/>
              </a:lnSpc>
              <a:buNone/>
            </a:pPr>
            <a:r>
              <a:rPr lang="en-US" sz="1458" dirty="0">
                <a:solidFill>
                  <a:srgbClr val="14213D"/>
                </a:solidFill>
                <a:latin typeface="JetBrains Mono" pitchFamily="49" charset="0"/>
                <a:ea typeface="JetBrains Mono" pitchFamily="49" charset="-122"/>
                <a:cs typeface="JetBrains Mono" pitchFamily="49" charset="-120"/>
              </a:rPr>
              <a:t>xₙ</a:t>
            </a:r>
            <a:endParaRPr lang="en-US" sz="1458" dirty="0"/>
          </a:p>
        </p:txBody>
      </p:sp>
      <p:sp>
        <p:nvSpPr>
          <p:cNvPr id="13" name="Text 5"/>
          <p:cNvSpPr/>
          <p:nvPr/>
        </p:nvSpPr>
        <p:spPr>
          <a:xfrm>
            <a:off x="1022350" y="4832350"/>
            <a:ext cx="1003300" cy="393700"/>
          </a:xfrm>
          <a:custGeom>
            <a:avLst/>
            <a:gdLst/>
            <a:ahLst/>
            <a:cxnLst/>
            <a:rect l="l" t="t" r="r" b="b"/>
            <a:pathLst>
              <a:path w="1003300" h="393700">
                <a:moveTo>
                  <a:pt x="196850" y="0"/>
                </a:moveTo>
                <a:lnTo>
                  <a:pt x="806450" y="0"/>
                </a:lnTo>
                <a:arcTo hR="196850" wR="196850" stAng="16200000" swAng="5400000"/>
                <a:lnTo>
                  <a:pt x="1003300" y="196850"/>
                </a:lnTo>
                <a:arcTo hR="196850" wR="196850" stAng="0" swAng="5400000"/>
                <a:lnTo>
                  <a:pt x="196850" y="393700"/>
                </a:lnTo>
                <a:arcTo hR="196850" wR="196850" stAng="5400000" swAng="5400000"/>
                <a:lnTo>
                  <a:pt x="0" y="196850"/>
                </a:lnTo>
                <a:arcTo hR="196850" wR="196850" stAng="10800000" swAng="5400000"/>
                <a:close/>
              </a:path>
            </a:pathLst>
          </a:custGeom>
          <a:solidFill>
            <a:srgbClr val="EAE6DB"/>
          </a:solidFill>
          <a:ln w="12700">
            <a:solidFill>
              <a:srgbClr val="14213D"/>
            </a:solidFill>
            <a:prstDash val="dash"/>
          </a:ln>
        </p:spPr>
        <p:txBody>
          <a:bodyPr wrap="square" lIns="0" tIns="3810" rIns="0" bIns="0" rtlCol="0" anchor="t">
            <a:normAutofit/>
          </a:bodyPr>
          <a:lstStyle/>
          <a:p>
            <a:pPr algn="ctr" indent="0" marL="0">
              <a:lnSpc>
                <a:spcPts val="3061"/>
              </a:lnSpc>
              <a:buNone/>
            </a:pPr>
            <a:r>
              <a:rPr lang="en-US" sz="1458" dirty="0">
                <a:solidFill>
                  <a:srgbClr val="14213D"/>
                </a:solidFill>
                <a:latin typeface="JetBrains Mono" pitchFamily="49" charset="0"/>
                <a:ea typeface="JetBrains Mono" pitchFamily="49" charset="-122"/>
                <a:cs typeface="JetBrains Mono" pitchFamily="49" charset="-120"/>
              </a:rPr>
              <a:t>1</a:t>
            </a:r>
            <a:endParaRPr lang="en-US" sz="1458" dirty="0"/>
          </a:p>
        </p:txBody>
      </p:sp>
      <p:sp>
        <p:nvSpPr>
          <p:cNvPr id="14" name="Text 6"/>
          <p:cNvSpPr/>
          <p:nvPr/>
        </p:nvSpPr>
        <p:spPr>
          <a:xfrm>
            <a:off x="787400" y="527050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entrée du biais</a:t>
            </a:r>
            <a:endParaRPr lang="en-US" sz="1200" dirty="0"/>
          </a:p>
        </p:txBody>
      </p:sp>
      <p:sp>
        <p:nvSpPr>
          <p:cNvPr id="15" name="Text 7"/>
          <p:cNvSpPr/>
          <p:nvPr/>
        </p:nvSpPr>
        <p:spPr>
          <a:xfrm>
            <a:off x="2984500" y="2463800"/>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JetBrains Mono" pitchFamily="49" charset="0"/>
                <a:ea typeface="JetBrains Mono" pitchFamily="49" charset="-122"/>
                <a:cs typeface="JetBrains Mono" pitchFamily="49" charset="-120"/>
              </a:rPr>
              <a:t>w₁</a:t>
            </a:r>
            <a:endParaRPr lang="en-US" sz="1400" dirty="0"/>
          </a:p>
        </p:txBody>
      </p:sp>
      <p:sp>
        <p:nvSpPr>
          <p:cNvPr id="16" name="Text 8"/>
          <p:cNvSpPr/>
          <p:nvPr/>
        </p:nvSpPr>
        <p:spPr>
          <a:xfrm>
            <a:off x="2984500" y="3035300"/>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JetBrains Mono" pitchFamily="49" charset="0"/>
                <a:ea typeface="JetBrains Mono" pitchFamily="49" charset="-122"/>
                <a:cs typeface="JetBrains Mono" pitchFamily="49" charset="-120"/>
              </a:rPr>
              <a:t>w₂</a:t>
            </a:r>
            <a:endParaRPr lang="en-US" sz="1400" dirty="0"/>
          </a:p>
        </p:txBody>
      </p:sp>
      <p:sp>
        <p:nvSpPr>
          <p:cNvPr id="17" name="Text 9"/>
          <p:cNvSpPr/>
          <p:nvPr/>
        </p:nvSpPr>
        <p:spPr>
          <a:xfrm>
            <a:off x="2984500" y="3632200"/>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JetBrains Mono" pitchFamily="49" charset="0"/>
                <a:ea typeface="JetBrains Mono" pitchFamily="49" charset="-122"/>
                <a:cs typeface="JetBrains Mono" pitchFamily="49" charset="-120"/>
              </a:rPr>
              <a:t>wₙ</a:t>
            </a:r>
            <a:endParaRPr lang="en-US" sz="1400" dirty="0"/>
          </a:p>
        </p:txBody>
      </p:sp>
      <p:sp>
        <p:nvSpPr>
          <p:cNvPr id="18" name="Text 10"/>
          <p:cNvSpPr/>
          <p:nvPr/>
        </p:nvSpPr>
        <p:spPr>
          <a:xfrm>
            <a:off x="2984500" y="4406900"/>
            <a:ext cx="5588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JetBrains Mono" pitchFamily="49" charset="0"/>
                <a:ea typeface="JetBrains Mono" pitchFamily="49" charset="-122"/>
                <a:cs typeface="JetBrains Mono" pitchFamily="49" charset="-120"/>
              </a:rPr>
              <a:t>b</a:t>
            </a:r>
            <a:endParaRPr lang="en-US" sz="1400" dirty="0"/>
          </a:p>
        </p:txBody>
      </p:sp>
      <p:pic>
        <p:nvPicPr>
          <p:cNvPr id="19" name="Image 6" descr="ellipse">    </p:cNvPr>
          <p:cNvPicPr>
            <a:picLocks noChangeAspect="1"/>
          </p:cNvPicPr>
          <p:nvPr/>
        </p:nvPicPr>
        <p:blipFill>
          <a:blip r:embed="rId7"/>
          <a:srcRect l="0" r="0" t="0" b="0"/>
          <a:stretch/>
        </p:blipFill>
        <p:spPr>
          <a:xfrm>
            <a:off x="5207000" y="3175000"/>
            <a:ext cx="1270000" cy="1270000"/>
          </a:xfrm>
          <a:prstGeom prst="rect">
            <a:avLst/>
          </a:prstGeom>
        </p:spPr>
      </p:pic>
      <p:sp>
        <p:nvSpPr>
          <p:cNvPr id="20" name="Text 11"/>
          <p:cNvSpPr/>
          <p:nvPr/>
        </p:nvSpPr>
        <p:spPr>
          <a:xfrm>
            <a:off x="5181600" y="3479800"/>
            <a:ext cx="1320800" cy="635000"/>
          </a:xfrm>
          <a:prstGeom prst="rect">
            <a:avLst/>
          </a:prstGeom>
          <a:noFill/>
          <a:ln/>
        </p:spPr>
        <p:txBody>
          <a:bodyPr wrap="square" lIns="0" tIns="0" rIns="0" bIns="0" rtlCol="0" anchor="t">
            <a:normAutofit/>
          </a:bodyPr>
          <a:lstStyle/>
          <a:p>
            <a:pPr algn="ctr" indent="0" marL="0">
              <a:lnSpc>
                <a:spcPts val="4800"/>
              </a:lnSpc>
              <a:buNone/>
            </a:pPr>
            <a:r>
              <a:rPr lang="en-US" sz="4000" b="1" dirty="0">
                <a:solidFill>
                  <a:srgbClr val="F6F4EE"/>
                </a:solidFill>
                <a:latin typeface="Space Grotesk" pitchFamily="34" charset="0"/>
                <a:ea typeface="Space Grotesk" pitchFamily="34" charset="-122"/>
                <a:cs typeface="Space Grotesk" pitchFamily="34" charset="-120"/>
              </a:rPr>
              <a:t>Σ</a:t>
            </a:r>
            <a:endParaRPr lang="en-US" sz="4000" dirty="0"/>
          </a:p>
        </p:txBody>
      </p:sp>
      <p:sp>
        <p:nvSpPr>
          <p:cNvPr id="21" name="Text 12"/>
          <p:cNvSpPr/>
          <p:nvPr/>
        </p:nvSpPr>
        <p:spPr>
          <a:xfrm>
            <a:off x="7502525" y="3413125"/>
            <a:ext cx="1377950" cy="793750"/>
          </a:xfrm>
          <a:custGeom>
            <a:avLst/>
            <a:gdLst/>
            <a:ahLst/>
            <a:cxnLst/>
            <a:rect l="l" t="t" r="r" b="b"/>
            <a:pathLst>
              <a:path w="1377950" h="793750">
                <a:moveTo>
                  <a:pt x="92075" y="0"/>
                </a:moveTo>
                <a:lnTo>
                  <a:pt x="1285875" y="0"/>
                </a:lnTo>
                <a:arcTo hR="92075" wR="92075" stAng="16200000" swAng="5400000"/>
                <a:lnTo>
                  <a:pt x="1377950" y="701675"/>
                </a:lnTo>
                <a:arcTo hR="92075" wR="92075" stAng="0" swAng="5400000"/>
                <a:lnTo>
                  <a:pt x="92075" y="793750"/>
                </a:lnTo>
                <a:arcTo hR="92075" wR="92075" stAng="5400000" swAng="5400000"/>
                <a:lnTo>
                  <a:pt x="0" y="92075"/>
                </a:lnTo>
                <a:arcTo hR="92075" wR="92075" stAng="10800000" swAng="5400000"/>
                <a:close/>
              </a:path>
            </a:pathLst>
          </a:custGeom>
          <a:solidFill>
            <a:srgbClr val="FFFFFF"/>
          </a:solidFill>
          <a:ln w="19050">
            <a:solidFill>
              <a:srgbClr val="B5541C"/>
            </a:solidFill>
            <a:prstDash val="solid"/>
          </a:ln>
        </p:spPr>
        <p:txBody>
          <a:bodyPr wrap="square" lIns="0" tIns="5715" rIns="0" bIns="0" rtlCol="0" anchor="t">
            <a:normAutofit/>
          </a:bodyPr>
          <a:lstStyle/>
          <a:p>
            <a:pPr algn="ctr" indent="0" marL="0">
              <a:lnSpc>
                <a:spcPts val="6180"/>
              </a:lnSpc>
              <a:buNone/>
            </a:pPr>
            <a:r>
              <a:rPr lang="en-US" sz="1931" dirty="0">
                <a:solidFill>
                  <a:srgbClr val="14213D"/>
                </a:solidFill>
                <a:latin typeface="JetBrains Mono" pitchFamily="49" charset="0"/>
                <a:ea typeface="JetBrains Mono" pitchFamily="49" charset="-122"/>
                <a:cs typeface="JetBrains Mono" pitchFamily="49" charset="-120"/>
              </a:rPr>
              <a:t>f(y)</a:t>
            </a:r>
            <a:endParaRPr lang="en-US" sz="1931" dirty="0"/>
          </a:p>
        </p:txBody>
      </p:sp>
      <p:sp>
        <p:nvSpPr>
          <p:cNvPr id="22" name="Text 13"/>
          <p:cNvSpPr/>
          <p:nvPr/>
        </p:nvSpPr>
        <p:spPr>
          <a:xfrm>
            <a:off x="9779000" y="3606800"/>
            <a:ext cx="1143000" cy="400050"/>
          </a:xfrm>
          <a:custGeom>
            <a:avLst/>
            <a:gdLst/>
            <a:ahLst/>
            <a:cxnLst/>
            <a:rect l="l" t="t" r="r" b="b"/>
            <a:pathLst>
              <a:path w="1143000" h="400050">
                <a:moveTo>
                  <a:pt x="200025" y="0"/>
                </a:moveTo>
                <a:lnTo>
                  <a:pt x="942975" y="0"/>
                </a:lnTo>
                <a:arcTo hR="200025" wR="200025" stAng="16200000" swAng="5400000"/>
                <a:lnTo>
                  <a:pt x="1143000" y="200025"/>
                </a:lnTo>
                <a:arcTo hR="200025" wR="200025" stAng="0" swAng="5400000"/>
                <a:lnTo>
                  <a:pt x="200025" y="400050"/>
                </a:lnTo>
                <a:arcTo hR="200025" wR="200025" stAng="5400000" swAng="5400000"/>
                <a:lnTo>
                  <a:pt x="0" y="200025"/>
                </a:lnTo>
                <a:arcTo hR="200025" wR="200025" stAng="10800000" swAng="5400000"/>
                <a:close/>
              </a:path>
            </a:pathLst>
          </a:custGeom>
          <a:solidFill>
            <a:srgbClr val="F09A5B"/>
          </a:solidFill>
          <a:ln/>
        </p:spPr>
        <p:txBody>
          <a:bodyPr wrap="square" lIns="0" tIns="0" rIns="0" bIns="0" rtlCol="0" anchor="t">
            <a:normAutofit/>
          </a:bodyPr>
          <a:lstStyle/>
          <a:p>
            <a:pPr algn="ctr" indent="0" marL="0">
              <a:lnSpc>
                <a:spcPts val="3150"/>
              </a:lnSpc>
              <a:buNone/>
            </a:pPr>
            <a:r>
              <a:rPr lang="en-US" sz="1500" b="1" dirty="0">
                <a:solidFill>
                  <a:srgbClr val="14213D"/>
                </a:solidFill>
                <a:latin typeface="JetBrains Mono" pitchFamily="49" charset="0"/>
                <a:ea typeface="JetBrains Mono" pitchFamily="49" charset="-122"/>
                <a:cs typeface="JetBrains Mono" pitchFamily="49" charset="-120"/>
              </a:rPr>
              <a:t>ŷ</a:t>
            </a:r>
            <a:endParaRPr lang="en-US" sz="1500" dirty="0"/>
          </a:p>
        </p:txBody>
      </p:sp>
      <p:sp>
        <p:nvSpPr>
          <p:cNvPr id="23" name="Text 14"/>
          <p:cNvSpPr/>
          <p:nvPr/>
        </p:nvSpPr>
        <p:spPr>
          <a:xfrm>
            <a:off x="4795520" y="4635500"/>
            <a:ext cx="209296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13D"/>
                </a:solidFill>
                <a:latin typeface="Space Grotesk" pitchFamily="34" charset="0"/>
                <a:ea typeface="Space Grotesk" pitchFamily="34" charset="-122"/>
                <a:cs typeface="Space Grotesk" pitchFamily="34" charset="-120"/>
              </a:rPr>
              <a:t>1. Sommation</a:t>
            </a:r>
            <a:endParaRPr lang="en-US" sz="1600" dirty="0"/>
          </a:p>
        </p:txBody>
      </p:sp>
      <p:sp>
        <p:nvSpPr>
          <p:cNvPr id="24" name="Text 15"/>
          <p:cNvSpPr/>
          <p:nvPr/>
        </p:nvSpPr>
        <p:spPr>
          <a:xfrm>
            <a:off x="7145020" y="4381500"/>
            <a:ext cx="2092960" cy="309880"/>
          </a:xfrm>
          <a:prstGeom prst="rect">
            <a:avLst/>
          </a:prstGeom>
          <a:noFill/>
          <a:ln/>
        </p:spPr>
        <p:txBody>
          <a:bodyPr wrap="square" lIns="0" tIns="0" rIns="0" bIns="0" rtlCol="0" anchor="t">
            <a:normAutofit/>
          </a:bodyPr>
          <a:lstStyle/>
          <a:p>
            <a:pPr algn="ctr" indent="0" marL="0">
              <a:lnSpc>
                <a:spcPts val="2240"/>
              </a:lnSpc>
              <a:buNone/>
            </a:pPr>
            <a:r>
              <a:rPr lang="en-US" sz="1600" b="1" dirty="0">
                <a:solidFill>
                  <a:srgbClr val="14213D"/>
                </a:solidFill>
                <a:latin typeface="Space Grotesk" pitchFamily="34" charset="0"/>
                <a:ea typeface="Space Grotesk" pitchFamily="34" charset="-122"/>
                <a:cs typeface="Space Grotesk" pitchFamily="34" charset="-120"/>
              </a:rPr>
              <a:t>2. Activation</a:t>
            </a:r>
            <a:endParaRPr lang="en-US" sz="1600" dirty="0"/>
          </a:p>
        </p:txBody>
      </p:sp>
      <p:sp>
        <p:nvSpPr>
          <p:cNvPr id="25" name="Text 16"/>
          <p:cNvSpPr/>
          <p:nvPr/>
        </p:nvSpPr>
        <p:spPr>
          <a:xfrm>
            <a:off x="9499600" y="4127500"/>
            <a:ext cx="1701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classe prédite (0 ou 1)</a:t>
            </a:r>
            <a:endParaRPr lang="en-US" sz="1200" dirty="0"/>
          </a:p>
        </p:txBody>
      </p:sp>
      <p:sp>
        <p:nvSpPr>
          <p:cNvPr id="26" name="Text 17"/>
          <p:cNvSpPr/>
          <p:nvPr/>
        </p:nvSpPr>
        <p:spPr>
          <a:xfrm>
            <a:off x="3959225" y="5080000"/>
            <a:ext cx="7194550" cy="345440"/>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14213D"/>
                </a:solidFill>
                <a:latin typeface="JetBrains Mono" pitchFamily="49" charset="0"/>
                <a:ea typeface="JetBrains Mono" pitchFamily="49" charset="-122"/>
                <a:cs typeface="JetBrains Mono" pitchFamily="49" charset="-120"/>
              </a:rPr>
              <a:t>y = Σ wᵢ·xᵢ + b</a:t>
            </a:r>
            <a:endParaRPr lang="en-US" sz="1800" dirty="0"/>
          </a:p>
        </p:txBody>
      </p:sp>
      <p:sp>
        <p:nvSpPr>
          <p:cNvPr id="27" name="Text 18"/>
          <p:cNvSpPr/>
          <p:nvPr/>
        </p:nvSpPr>
        <p:spPr>
          <a:xfrm>
            <a:off x="812800" y="6238239"/>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05</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ACTIVATION</a:t>
            </a:r>
            <a:endParaRPr lang="en-US" sz="1200" dirty="0"/>
          </a:p>
        </p:txBody>
      </p:sp>
      <p:sp>
        <p:nvSpPr>
          <p:cNvPr id="3" name="Text 1"/>
          <p:cNvSpPr/>
          <p:nvPr>
            <p:ph type="title"/>
          </p:nvPr>
        </p:nvSpPr>
        <p:spPr>
          <a:xfrm>
            <a:off x="812800" y="11277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Une fonction seuil de type Heaviside</a:t>
            </a:r>
            <a:endParaRPr lang="en-US" sz="3200" dirty="0"/>
          </a:p>
        </p:txBody>
      </p:sp>
      <p:sp>
        <p:nvSpPr>
          <p:cNvPr id="4" name="Shape 2"/>
          <p:cNvSpPr/>
          <p:nvPr/>
        </p:nvSpPr>
        <p:spPr>
          <a:xfrm>
            <a:off x="812800" y="1899921"/>
            <a:ext cx="5588000" cy="1249680"/>
          </a:xfrm>
          <a:prstGeom prst="roundRect">
            <a:avLst>
              <a:gd name="adj" fmla="val 8130"/>
            </a:avLst>
          </a:prstGeom>
          <a:solidFill>
            <a:srgbClr val="14213D"/>
          </a:solidFill>
          <a:ln/>
        </p:spPr>
      </p:sp>
      <p:sp>
        <p:nvSpPr>
          <p:cNvPr id="5" name="Text 3"/>
          <p:cNvSpPr/>
          <p:nvPr/>
        </p:nvSpPr>
        <p:spPr>
          <a:xfrm>
            <a:off x="1066800" y="2153921"/>
            <a:ext cx="5232400"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6F4EE"/>
                </a:solidFill>
                <a:latin typeface="JetBrains Mono" pitchFamily="49" charset="0"/>
                <a:ea typeface="JetBrains Mono" pitchFamily="49" charset="-122"/>
                <a:cs typeface="JetBrains Mono" pitchFamily="49" charset="-120"/>
              </a:rPr>
              <a:t>ŷ = </a:t>
            </a:r>
            <a:r>
              <a:rPr lang="en-US" sz="1800" dirty="0">
                <a:solidFill>
                  <a:srgbClr val="F09A5B"/>
                </a:solidFill>
                <a:latin typeface="JetBrains Mono" pitchFamily="49" charset="0"/>
                <a:ea typeface="JetBrains Mono" pitchFamily="49" charset="-122"/>
                <a:cs typeface="JetBrains Mono" pitchFamily="49" charset="-120"/>
              </a:rPr>
              <a:t>1</a:t>
            </a:r>
            <a:r>
              <a:rPr lang="en-US" sz="1800" dirty="0">
                <a:solidFill>
                  <a:srgbClr val="F6F4EE"/>
                </a:solidFill>
                <a:latin typeface="JetBrains Mono" pitchFamily="49" charset="0"/>
                <a:ea typeface="JetBrains Mono" pitchFamily="49" charset="-122"/>
                <a:cs typeface="JetBrains Mono" pitchFamily="49" charset="-120"/>
              </a:rPr>
              <a:t> si y &gt; 0</a:t>
            </a:r>
            <a:endParaRPr lang="en-US" sz="1800" dirty="0"/>
          </a:p>
        </p:txBody>
      </p:sp>
      <p:sp>
        <p:nvSpPr>
          <p:cNvPr id="6" name="Text 4"/>
          <p:cNvSpPr/>
          <p:nvPr/>
        </p:nvSpPr>
        <p:spPr>
          <a:xfrm>
            <a:off x="1066800" y="2575561"/>
            <a:ext cx="5232400"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6F4EE"/>
                </a:solidFill>
                <a:latin typeface="JetBrains Mono" pitchFamily="49" charset="0"/>
                <a:ea typeface="JetBrains Mono" pitchFamily="49" charset="-122"/>
                <a:cs typeface="JetBrains Mono" pitchFamily="49" charset="-120"/>
              </a:rPr>
              <a:t>ŷ = </a:t>
            </a:r>
            <a:r>
              <a:rPr lang="en-US" sz="1800" dirty="0">
                <a:solidFill>
                  <a:srgbClr val="F09A5B"/>
                </a:solidFill>
                <a:latin typeface="JetBrains Mono" pitchFamily="49" charset="0"/>
                <a:ea typeface="JetBrains Mono" pitchFamily="49" charset="-122"/>
                <a:cs typeface="JetBrains Mono" pitchFamily="49" charset="-120"/>
              </a:rPr>
              <a:t>0</a:t>
            </a:r>
            <a:r>
              <a:rPr lang="en-US" sz="1800" dirty="0">
                <a:solidFill>
                  <a:srgbClr val="F6F4EE"/>
                </a:solidFill>
                <a:latin typeface="JetBrains Mono" pitchFamily="49" charset="0"/>
                <a:ea typeface="JetBrains Mono" pitchFamily="49" charset="-122"/>
                <a:cs typeface="JetBrains Mono" pitchFamily="49" charset="-120"/>
              </a:rPr>
              <a:t> sinon</a:t>
            </a:r>
            <a:endParaRPr lang="en-US" sz="1800" dirty="0"/>
          </a:p>
        </p:txBody>
      </p:sp>
      <p:sp>
        <p:nvSpPr>
          <p:cNvPr id="7" name="Text 5"/>
          <p:cNvSpPr/>
          <p:nvPr/>
        </p:nvSpPr>
        <p:spPr>
          <a:xfrm>
            <a:off x="812800" y="3352800"/>
            <a:ext cx="575564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Si la somme dépasse le seuil (ici 0), la sortie vaut 1 : </a:t>
            </a:r>
            <a:r>
              <a:rPr lang="en-US" sz="1500" b="1" dirty="0">
                <a:solidFill>
                  <a:srgbClr val="14213D"/>
                </a:solidFill>
                <a:latin typeface="IBM Plex Sans" pitchFamily="34" charset="0"/>
                <a:ea typeface="IBM Plex Sans" pitchFamily="34" charset="-122"/>
                <a:cs typeface="IBM Plex Sans" pitchFamily="34" charset="-120"/>
              </a:rPr>
              <a:t>première classe</a:t>
            </a:r>
            <a:r>
              <a:rPr lang="en-US" sz="1500" dirty="0">
                <a:solidFill>
                  <a:srgbClr val="4A5568"/>
                </a:solidFill>
                <a:latin typeface="IBM Plex Sans" pitchFamily="34" charset="0"/>
                <a:ea typeface="IBM Plex Sans" pitchFamily="34" charset="-122"/>
                <a:cs typeface="IBM Plex Sans" pitchFamily="34" charset="-120"/>
              </a:rPr>
              <a:t>. Sinon elle vaut 0 : </a:t>
            </a:r>
            <a:r>
              <a:rPr lang="en-US" sz="1500" b="1" dirty="0">
                <a:solidFill>
                  <a:srgbClr val="14213D"/>
                </a:solidFill>
                <a:latin typeface="IBM Plex Sans" pitchFamily="34" charset="0"/>
                <a:ea typeface="IBM Plex Sans" pitchFamily="34" charset="-122"/>
                <a:cs typeface="IBM Plex Sans" pitchFamily="34" charset="-120"/>
              </a:rPr>
              <a:t>seconde classe</a:t>
            </a:r>
            <a:r>
              <a:rPr lang="en-US" sz="1500" dirty="0">
                <a:solidFill>
                  <a:srgbClr val="4A5568"/>
                </a:solidFill>
                <a:latin typeface="IBM Plex Sans" pitchFamily="34" charset="0"/>
                <a:ea typeface="IBM Plex Sans" pitchFamily="34" charset="-122"/>
                <a:cs typeface="IBM Plex Sans" pitchFamily="34" charset="-120"/>
              </a:rPr>
              <a:t>.</a:t>
            </a:r>
            <a:endParaRPr lang="en-US" sz="1500" dirty="0"/>
          </a:p>
        </p:txBody>
      </p:sp>
      <p:sp>
        <p:nvSpPr>
          <p:cNvPr id="8" name="Text 6"/>
          <p:cNvSpPr/>
          <p:nvPr/>
        </p:nvSpPr>
        <p:spPr>
          <a:xfrm>
            <a:off x="812800" y="4089400"/>
            <a:ext cx="575564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Le </a:t>
            </a:r>
            <a:r>
              <a:rPr lang="en-US" sz="1500" b="1" dirty="0">
                <a:solidFill>
                  <a:srgbClr val="14213D"/>
                </a:solidFill>
                <a:latin typeface="IBM Plex Sans" pitchFamily="34" charset="0"/>
                <a:ea typeface="IBM Plex Sans" pitchFamily="34" charset="-122"/>
                <a:cs typeface="IBM Plex Sans" pitchFamily="34" charset="-120"/>
              </a:rPr>
              <a:t>biais b</a:t>
            </a:r>
            <a:r>
              <a:rPr lang="en-US" sz="1500" dirty="0">
                <a:solidFill>
                  <a:srgbClr val="4A5568"/>
                </a:solidFill>
                <a:latin typeface="IBM Plex Sans" pitchFamily="34" charset="0"/>
                <a:ea typeface="IBM Plex Sans" pitchFamily="34" charset="-122"/>
                <a:cs typeface="IBM Plex Sans" pitchFamily="34" charset="-120"/>
              </a:rPr>
              <a:t> décale la droite de décision sur l’axe des ordonnées, pour une meilleure classification.</a:t>
            </a:r>
            <a:endParaRPr lang="en-US" sz="1500" dirty="0"/>
          </a:p>
        </p:txBody>
      </p:sp>
      <p:sp>
        <p:nvSpPr>
          <p:cNvPr id="9" name="Shape 7"/>
          <p:cNvSpPr/>
          <p:nvPr/>
        </p:nvSpPr>
        <p:spPr>
          <a:xfrm>
            <a:off x="6810375" y="1903096"/>
            <a:ext cx="4565650" cy="3295650"/>
          </a:xfrm>
          <a:prstGeom prst="roundRect">
            <a:avLst>
              <a:gd name="adj" fmla="val 2987"/>
            </a:avLst>
          </a:prstGeom>
          <a:solidFill>
            <a:srgbClr val="FFFFFF"/>
          </a:solidFill>
          <a:ln w="6350">
            <a:solidFill>
              <a:srgbClr val="DDD8CB"/>
            </a:solidFill>
            <a:prstDash val="solid"/>
          </a:ln>
        </p:spPr>
      </p:sp>
      <p:pic>
        <p:nvPicPr>
          <p:cNvPr id="10" name="Image 0" descr="Fonction échelon : la sortie vaut 0 pour y inférieur ou égal à 0, puis 1 pour y supérieur à 0">    </p:cNvPr>
          <p:cNvPicPr>
            <a:picLocks noChangeAspect="1"/>
          </p:cNvPicPr>
          <p:nvPr/>
        </p:nvPicPr>
        <p:blipFill>
          <a:blip r:embed="rId1"/>
          <a:srcRect l="-154" r="-154" t="0" b="0"/>
          <a:stretch/>
        </p:blipFill>
        <p:spPr>
          <a:xfrm>
            <a:off x="6812280" y="1905000"/>
            <a:ext cx="4572000" cy="3291840"/>
          </a:xfrm>
          <a:prstGeom prst="rect">
            <a:avLst/>
          </a:prstGeom>
        </p:spPr>
      </p:pic>
      <p:sp>
        <p:nvSpPr>
          <p:cNvPr id="11" name="Text 8"/>
          <p:cNvSpPr/>
          <p:nvPr/>
        </p:nvSpPr>
        <p:spPr>
          <a:xfrm>
            <a:off x="8724900" y="2712721"/>
            <a:ext cx="3048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1</a:t>
            </a:r>
            <a:endParaRPr lang="en-US" sz="1400" dirty="0"/>
          </a:p>
        </p:txBody>
      </p:sp>
      <p:sp>
        <p:nvSpPr>
          <p:cNvPr id="12" name="Text 9"/>
          <p:cNvSpPr/>
          <p:nvPr/>
        </p:nvSpPr>
        <p:spPr>
          <a:xfrm>
            <a:off x="8724900" y="4617721"/>
            <a:ext cx="304800" cy="27432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0</a:t>
            </a:r>
            <a:endParaRPr lang="en-US" sz="1400" dirty="0"/>
          </a:p>
        </p:txBody>
      </p:sp>
      <p:sp>
        <p:nvSpPr>
          <p:cNvPr id="13" name="Text 10"/>
          <p:cNvSpPr/>
          <p:nvPr/>
        </p:nvSpPr>
        <p:spPr>
          <a:xfrm>
            <a:off x="10871200" y="4617721"/>
            <a:ext cx="431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a:t>
            </a:r>
            <a:endParaRPr lang="en-US" sz="1400" dirty="0"/>
          </a:p>
        </p:txBody>
      </p:sp>
      <p:sp>
        <p:nvSpPr>
          <p:cNvPr id="14" name="Text 11"/>
          <p:cNvSpPr/>
          <p:nvPr/>
        </p:nvSpPr>
        <p:spPr>
          <a:xfrm>
            <a:off x="9194800" y="2153921"/>
            <a:ext cx="431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ŷ</a:t>
            </a:r>
            <a:endParaRPr lang="en-US" sz="1400" dirty="0"/>
          </a:p>
        </p:txBody>
      </p:sp>
      <p:sp>
        <p:nvSpPr>
          <p:cNvPr id="15" name="Text 12"/>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06</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APPRENTISSAGE</a:t>
            </a:r>
            <a:endParaRPr lang="en-US" sz="1200" dirty="0"/>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L’algorithme pas à pas</a:t>
            </a:r>
            <a:endParaRPr lang="en-US" sz="3200" dirty="0"/>
          </a:p>
        </p:txBody>
      </p:sp>
      <p:sp>
        <p:nvSpPr>
          <p:cNvPr id="4" name="Shape 2"/>
          <p:cNvSpPr/>
          <p:nvPr/>
        </p:nvSpPr>
        <p:spPr>
          <a:xfrm>
            <a:off x="815975" y="1903096"/>
            <a:ext cx="10560050" cy="588010"/>
          </a:xfrm>
          <a:prstGeom prst="roundRect">
            <a:avLst>
              <a:gd name="adj" fmla="val 12419"/>
            </a:avLst>
          </a:prstGeom>
          <a:solidFill>
            <a:srgbClr val="FFFFFF"/>
          </a:solidFill>
          <a:ln w="6350">
            <a:solidFill>
              <a:srgbClr val="DDD8CB"/>
            </a:solidFill>
            <a:prstDash val="solid"/>
          </a:ln>
        </p:spPr>
      </p:sp>
      <p:sp>
        <p:nvSpPr>
          <p:cNvPr id="5" name="Text 3"/>
          <p:cNvSpPr/>
          <p:nvPr/>
        </p:nvSpPr>
        <p:spPr>
          <a:xfrm>
            <a:off x="1021080" y="2019300"/>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41C"/>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529080" y="2063750"/>
            <a:ext cx="8223599"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Initialiser le </a:t>
            </a:r>
            <a:r>
              <a:rPr lang="en-US" sz="1500" b="1" dirty="0">
                <a:solidFill>
                  <a:srgbClr val="14213D"/>
                </a:solidFill>
                <a:latin typeface="IBM Plex Sans" pitchFamily="34" charset="0"/>
                <a:ea typeface="IBM Plex Sans" pitchFamily="34" charset="-122"/>
                <a:cs typeface="IBM Plex Sans" pitchFamily="34" charset="-120"/>
              </a:rPr>
              <a:t>taux d’apprentissage α</a:t>
            </a:r>
            <a:r>
              <a:rPr lang="en-US" sz="1500" dirty="0">
                <a:solidFill>
                  <a:srgbClr val="14213D"/>
                </a:solidFill>
                <a:latin typeface="IBM Plex Sans" pitchFamily="34" charset="0"/>
                <a:ea typeface="IBM Plex Sans" pitchFamily="34" charset="-122"/>
                <a:cs typeface="IBM Plex Sans" pitchFamily="34" charset="-120"/>
              </a:rPr>
              <a:t> : le pas avec lequel les poids sont mis à jour</a:t>
            </a:r>
            <a:endParaRPr lang="en-US" sz="1500" dirty="0"/>
          </a:p>
        </p:txBody>
      </p:sp>
      <p:sp>
        <p:nvSpPr>
          <p:cNvPr id="7" name="Shape 5"/>
          <p:cNvSpPr/>
          <p:nvPr/>
        </p:nvSpPr>
        <p:spPr>
          <a:xfrm>
            <a:off x="815975" y="2573654"/>
            <a:ext cx="10560050" cy="588010"/>
          </a:xfrm>
          <a:prstGeom prst="roundRect">
            <a:avLst>
              <a:gd name="adj" fmla="val 12419"/>
            </a:avLst>
          </a:prstGeom>
          <a:solidFill>
            <a:srgbClr val="FFFFFF"/>
          </a:solidFill>
          <a:ln w="6350">
            <a:solidFill>
              <a:srgbClr val="DDD8CB"/>
            </a:solidFill>
            <a:prstDash val="solid"/>
          </a:ln>
        </p:spPr>
      </p:sp>
      <p:sp>
        <p:nvSpPr>
          <p:cNvPr id="8" name="Text 6"/>
          <p:cNvSpPr/>
          <p:nvPr/>
        </p:nvSpPr>
        <p:spPr>
          <a:xfrm>
            <a:off x="1021080" y="2689864"/>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41C"/>
                </a:solidFill>
                <a:latin typeface="Space Grotesk" pitchFamily="34" charset="0"/>
                <a:ea typeface="Space Grotesk" pitchFamily="34" charset="-122"/>
                <a:cs typeface="Space Grotesk" pitchFamily="34" charset="-120"/>
              </a:rPr>
              <a:t>2</a:t>
            </a:r>
            <a:endParaRPr lang="en-US" sz="2000" dirty="0"/>
          </a:p>
        </p:txBody>
      </p:sp>
      <p:sp>
        <p:nvSpPr>
          <p:cNvPr id="9" name="Text 7"/>
          <p:cNvSpPr/>
          <p:nvPr/>
        </p:nvSpPr>
        <p:spPr>
          <a:xfrm>
            <a:off x="1529080" y="2734314"/>
            <a:ext cx="553164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Initialiser les </a:t>
            </a:r>
            <a:r>
              <a:rPr lang="en-US" sz="1500" b="1" dirty="0">
                <a:solidFill>
                  <a:srgbClr val="14213D"/>
                </a:solidFill>
                <a:latin typeface="IBM Plex Sans" pitchFamily="34" charset="0"/>
                <a:ea typeface="IBM Plex Sans" pitchFamily="34" charset="-122"/>
                <a:cs typeface="IBM Plex Sans" pitchFamily="34" charset="-120"/>
              </a:rPr>
              <a:t>poids</a:t>
            </a:r>
            <a:r>
              <a:rPr lang="en-US" sz="1500" dirty="0">
                <a:solidFill>
                  <a:srgbClr val="14213D"/>
                </a:solidFill>
                <a:latin typeface="IBM Plex Sans" pitchFamily="34" charset="0"/>
                <a:ea typeface="IBM Plex Sans" pitchFamily="34" charset="-122"/>
                <a:cs typeface="IBM Plex Sans" pitchFamily="34" charset="-120"/>
              </a:rPr>
              <a:t>, y compris w₀ = b, le poids du biais</a:t>
            </a:r>
            <a:endParaRPr lang="en-US" sz="1500" dirty="0"/>
          </a:p>
        </p:txBody>
      </p:sp>
      <p:sp>
        <p:nvSpPr>
          <p:cNvPr id="10" name="Shape 8"/>
          <p:cNvSpPr/>
          <p:nvPr/>
        </p:nvSpPr>
        <p:spPr>
          <a:xfrm>
            <a:off x="815975" y="3244217"/>
            <a:ext cx="10560050" cy="588010"/>
          </a:xfrm>
          <a:prstGeom prst="roundRect">
            <a:avLst>
              <a:gd name="adj" fmla="val 12419"/>
            </a:avLst>
          </a:prstGeom>
          <a:solidFill>
            <a:srgbClr val="FFFFFF"/>
          </a:solidFill>
          <a:ln w="6350">
            <a:solidFill>
              <a:srgbClr val="DDD8CB"/>
            </a:solidFill>
            <a:prstDash val="solid"/>
          </a:ln>
        </p:spPr>
      </p:sp>
      <p:sp>
        <p:nvSpPr>
          <p:cNvPr id="11" name="Text 9"/>
          <p:cNvSpPr/>
          <p:nvPr/>
        </p:nvSpPr>
        <p:spPr>
          <a:xfrm>
            <a:off x="1021080" y="3360421"/>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41C"/>
                </a:solidFill>
                <a:latin typeface="Space Grotesk" pitchFamily="34" charset="0"/>
                <a:ea typeface="Space Grotesk" pitchFamily="34" charset="-122"/>
                <a:cs typeface="Space Grotesk" pitchFamily="34" charset="-120"/>
              </a:rPr>
              <a:t>3</a:t>
            </a:r>
            <a:endParaRPr lang="en-US" sz="2000" dirty="0"/>
          </a:p>
        </p:txBody>
      </p:sp>
      <p:sp>
        <p:nvSpPr>
          <p:cNvPr id="12" name="Text 10"/>
          <p:cNvSpPr/>
          <p:nvPr/>
        </p:nvSpPr>
        <p:spPr>
          <a:xfrm>
            <a:off x="1529080" y="3404871"/>
            <a:ext cx="979570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Pour chaque exemple (donnée + classe réelle t) : calculer </a:t>
            </a:r>
            <a:r>
              <a:rPr lang="en-US" sz="1500" b="1" dirty="0">
                <a:solidFill>
                  <a:srgbClr val="14213D"/>
                </a:solidFill>
                <a:latin typeface="IBM Plex Sans" pitchFamily="34" charset="0"/>
                <a:ea typeface="IBM Plex Sans" pitchFamily="34" charset="-122"/>
                <a:cs typeface="IBM Plex Sans" pitchFamily="34" charset="-120"/>
              </a:rPr>
              <a:t>y</a:t>
            </a:r>
            <a:r>
              <a:rPr lang="en-US" sz="1500" dirty="0">
                <a:solidFill>
                  <a:srgbClr val="14213D"/>
                </a:solidFill>
                <a:latin typeface="IBM Plex Sans" pitchFamily="34" charset="0"/>
                <a:ea typeface="IBM Plex Sans" pitchFamily="34" charset="-122"/>
                <a:cs typeface="IBM Plex Sans" pitchFamily="34" charset="-120"/>
              </a:rPr>
              <a:t> par sommation, puis </a:t>
            </a:r>
            <a:r>
              <a:rPr lang="en-US" sz="1500" b="1" dirty="0">
                <a:solidFill>
                  <a:srgbClr val="14213D"/>
                </a:solidFill>
                <a:latin typeface="IBM Plex Sans" pitchFamily="34" charset="0"/>
                <a:ea typeface="IBM Plex Sans" pitchFamily="34" charset="-122"/>
                <a:cs typeface="IBM Plex Sans" pitchFamily="34" charset="-120"/>
              </a:rPr>
              <a:t>ŷ</a:t>
            </a:r>
            <a:r>
              <a:rPr lang="en-US" sz="1500" dirty="0">
                <a:solidFill>
                  <a:srgbClr val="14213D"/>
                </a:solidFill>
                <a:latin typeface="IBM Plex Sans" pitchFamily="34" charset="0"/>
                <a:ea typeface="IBM Plex Sans" pitchFamily="34" charset="-122"/>
                <a:cs typeface="IBM Plex Sans" pitchFamily="34" charset="-120"/>
              </a:rPr>
              <a:t> par activation</a:t>
            </a:r>
            <a:endParaRPr lang="en-US" sz="1500" dirty="0"/>
          </a:p>
        </p:txBody>
      </p:sp>
      <p:sp>
        <p:nvSpPr>
          <p:cNvPr id="13" name="Shape 11"/>
          <p:cNvSpPr/>
          <p:nvPr/>
        </p:nvSpPr>
        <p:spPr>
          <a:xfrm>
            <a:off x="815975" y="3914775"/>
            <a:ext cx="10560050" cy="588010"/>
          </a:xfrm>
          <a:prstGeom prst="roundRect">
            <a:avLst>
              <a:gd name="adj" fmla="val 12419"/>
            </a:avLst>
          </a:prstGeom>
          <a:solidFill>
            <a:srgbClr val="FFFFFF"/>
          </a:solidFill>
          <a:ln w="6350">
            <a:solidFill>
              <a:srgbClr val="DDD8CB"/>
            </a:solidFill>
            <a:prstDash val="solid"/>
          </a:ln>
        </p:spPr>
      </p:sp>
      <p:sp>
        <p:nvSpPr>
          <p:cNvPr id="14" name="Text 12"/>
          <p:cNvSpPr/>
          <p:nvPr/>
        </p:nvSpPr>
        <p:spPr>
          <a:xfrm>
            <a:off x="1021080" y="4030979"/>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41C"/>
                </a:solidFill>
                <a:latin typeface="Space Grotesk" pitchFamily="34" charset="0"/>
                <a:ea typeface="Space Grotesk" pitchFamily="34" charset="-122"/>
                <a:cs typeface="Space Grotesk" pitchFamily="34" charset="-120"/>
              </a:rPr>
              <a:t>4</a:t>
            </a:r>
            <a:endParaRPr lang="en-US" sz="2000" dirty="0"/>
          </a:p>
        </p:txBody>
      </p:sp>
      <p:sp>
        <p:nvSpPr>
          <p:cNvPr id="15" name="Text 13"/>
          <p:cNvSpPr/>
          <p:nvPr/>
        </p:nvSpPr>
        <p:spPr>
          <a:xfrm>
            <a:off x="1529080" y="4075429"/>
            <a:ext cx="7766971"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Si ŷ = t : bonne prédiction, on ne change rien et on passe à l’exemple suivant</a:t>
            </a:r>
            <a:endParaRPr lang="en-US" sz="1500" dirty="0"/>
          </a:p>
        </p:txBody>
      </p:sp>
      <p:sp>
        <p:nvSpPr>
          <p:cNvPr id="16" name="Shape 14"/>
          <p:cNvSpPr/>
          <p:nvPr/>
        </p:nvSpPr>
        <p:spPr>
          <a:xfrm>
            <a:off x="815975" y="4585339"/>
            <a:ext cx="10560050" cy="588010"/>
          </a:xfrm>
          <a:prstGeom prst="roundRect">
            <a:avLst>
              <a:gd name="adj" fmla="val 12419"/>
            </a:avLst>
          </a:prstGeom>
          <a:solidFill>
            <a:srgbClr val="FFFFFF"/>
          </a:solidFill>
          <a:ln w="6350">
            <a:solidFill>
              <a:srgbClr val="DDD8CB"/>
            </a:solidFill>
            <a:prstDash val="solid"/>
          </a:ln>
        </p:spPr>
      </p:sp>
      <p:sp>
        <p:nvSpPr>
          <p:cNvPr id="17" name="Text 15"/>
          <p:cNvSpPr/>
          <p:nvPr/>
        </p:nvSpPr>
        <p:spPr>
          <a:xfrm>
            <a:off x="1021080" y="4701542"/>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B5541C"/>
                </a:solidFill>
                <a:latin typeface="Space Grotesk" pitchFamily="34" charset="0"/>
                <a:ea typeface="Space Grotesk" pitchFamily="34" charset="-122"/>
                <a:cs typeface="Space Grotesk" pitchFamily="34" charset="-120"/>
              </a:rPr>
              <a:t>5</a:t>
            </a:r>
            <a:endParaRPr lang="en-US" sz="2000" dirty="0"/>
          </a:p>
        </p:txBody>
      </p:sp>
      <p:sp>
        <p:nvSpPr>
          <p:cNvPr id="18" name="Text 16"/>
          <p:cNvSpPr/>
          <p:nvPr/>
        </p:nvSpPr>
        <p:spPr>
          <a:xfrm>
            <a:off x="1529080" y="4745992"/>
            <a:ext cx="6145625"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Sinon : mettre à jour les poids avec la </a:t>
            </a:r>
            <a:r>
              <a:rPr lang="en-US" sz="1500" b="1" dirty="0">
                <a:solidFill>
                  <a:srgbClr val="14213D"/>
                </a:solidFill>
                <a:latin typeface="IBM Plex Sans" pitchFamily="34" charset="0"/>
                <a:ea typeface="IBM Plex Sans" pitchFamily="34" charset="-122"/>
                <a:cs typeface="IBM Plex Sans" pitchFamily="34" charset="-120"/>
              </a:rPr>
              <a:t>règle d’apprentissage</a:t>
            </a:r>
            <a:endParaRPr lang="en-US" sz="1500" dirty="0"/>
          </a:p>
        </p:txBody>
      </p:sp>
      <p:sp>
        <p:nvSpPr>
          <p:cNvPr id="19" name="Shape 17"/>
          <p:cNvSpPr/>
          <p:nvPr/>
        </p:nvSpPr>
        <p:spPr>
          <a:xfrm>
            <a:off x="812800" y="5252721"/>
            <a:ext cx="10566400" cy="584200"/>
          </a:xfrm>
          <a:prstGeom prst="roundRect">
            <a:avLst>
              <a:gd name="adj" fmla="val 13043"/>
            </a:avLst>
          </a:prstGeom>
          <a:solidFill>
            <a:srgbClr val="14213D"/>
          </a:solidFill>
          <a:ln/>
        </p:spPr>
      </p:sp>
      <p:sp>
        <p:nvSpPr>
          <p:cNvPr id="20" name="Text 18"/>
          <p:cNvSpPr/>
          <p:nvPr/>
        </p:nvSpPr>
        <p:spPr>
          <a:xfrm>
            <a:off x="1016000" y="5367021"/>
            <a:ext cx="355600"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F09A5B"/>
                </a:solidFill>
                <a:latin typeface="Space Grotesk" pitchFamily="34" charset="0"/>
                <a:ea typeface="Space Grotesk" pitchFamily="34" charset="-122"/>
                <a:cs typeface="Space Grotesk" pitchFamily="34" charset="-120"/>
              </a:rPr>
              <a:t>↻</a:t>
            </a:r>
            <a:endParaRPr lang="en-US" sz="2000" dirty="0"/>
          </a:p>
        </p:txBody>
      </p:sp>
      <p:sp>
        <p:nvSpPr>
          <p:cNvPr id="21" name="Text 19"/>
          <p:cNvSpPr/>
          <p:nvPr/>
        </p:nvSpPr>
        <p:spPr>
          <a:xfrm>
            <a:off x="1524000" y="5411471"/>
            <a:ext cx="797080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Répéter jusqu’au critère d’arrêt : </a:t>
            </a:r>
            <a:r>
              <a:rPr lang="en-US" sz="1500" b="1" dirty="0">
                <a:solidFill>
                  <a:srgbClr val="F6F4EE"/>
                </a:solidFill>
                <a:latin typeface="IBM Plex Sans" pitchFamily="34" charset="0"/>
                <a:ea typeface="IBM Plex Sans" pitchFamily="34" charset="-122"/>
                <a:cs typeface="IBM Plex Sans" pitchFamily="34" charset="-120"/>
              </a:rPr>
              <a:t>zéro erreur</a:t>
            </a:r>
            <a:r>
              <a:rPr lang="en-US" sz="1500" dirty="0">
                <a:solidFill>
                  <a:srgbClr val="F6F4EE"/>
                </a:solidFill>
                <a:latin typeface="IBM Plex Sans" pitchFamily="34" charset="0"/>
                <a:ea typeface="IBM Plex Sans" pitchFamily="34" charset="-122"/>
                <a:cs typeface="IBM Plex Sans" pitchFamily="34" charset="-120"/>
              </a:rPr>
              <a:t> ou </a:t>
            </a:r>
            <a:r>
              <a:rPr lang="en-US" sz="1500" b="1" dirty="0">
                <a:solidFill>
                  <a:srgbClr val="F6F4EE"/>
                </a:solidFill>
                <a:latin typeface="IBM Plex Sans" pitchFamily="34" charset="0"/>
                <a:ea typeface="IBM Plex Sans" pitchFamily="34" charset="-122"/>
                <a:cs typeface="IBM Plex Sans" pitchFamily="34" charset="-120"/>
              </a:rPr>
              <a:t>nombre maximal d’itérations</a:t>
            </a:r>
            <a:endParaRPr lang="en-US" sz="1500" dirty="0"/>
          </a:p>
        </p:txBody>
      </p:sp>
      <p:sp>
        <p:nvSpPr>
          <p:cNvPr id="22" name="Text 20"/>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07</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8465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9A5B"/>
                </a:solidFill>
                <a:latin typeface="IBM Plex Sans" pitchFamily="34" charset="0"/>
                <a:ea typeface="IBM Plex Sans" pitchFamily="34" charset="-122"/>
                <a:cs typeface="IBM Plex Sans" pitchFamily="34" charset="-120"/>
              </a:rPr>
              <a:t>LA RÈGLE D’APPRENTISSAGE</a:t>
            </a:r>
            <a:endParaRPr lang="en-US" sz="1200" dirty="0"/>
          </a:p>
        </p:txBody>
      </p:sp>
      <p:sp>
        <p:nvSpPr>
          <p:cNvPr id="3" name="Text 1"/>
          <p:cNvSpPr/>
          <p:nvPr/>
        </p:nvSpPr>
        <p:spPr>
          <a:xfrm>
            <a:off x="812800" y="2415542"/>
            <a:ext cx="10883392" cy="57404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F6F4EE"/>
                </a:solidFill>
                <a:latin typeface="JetBrains Mono" pitchFamily="49" charset="0"/>
                <a:ea typeface="JetBrains Mono" pitchFamily="49" charset="-122"/>
                <a:cs typeface="JetBrains Mono" pitchFamily="49" charset="-120"/>
              </a:rPr>
              <a:t>wᵢ ← wᵢ + Δwᵢ</a:t>
            </a:r>
            <a:endParaRPr lang="en-US" sz="3600" dirty="0"/>
          </a:p>
        </p:txBody>
      </p:sp>
      <p:sp>
        <p:nvSpPr>
          <p:cNvPr id="4" name="Text 2"/>
          <p:cNvSpPr/>
          <p:nvPr/>
        </p:nvSpPr>
        <p:spPr>
          <a:xfrm>
            <a:off x="812800" y="3116579"/>
            <a:ext cx="10883392" cy="574040"/>
          </a:xfrm>
          <a:prstGeom prst="rect">
            <a:avLst/>
          </a:prstGeom>
          <a:noFill/>
          <a:ln/>
        </p:spPr>
        <p:txBody>
          <a:bodyPr wrap="square" lIns="0" tIns="0" rIns="0" bIns="0" rtlCol="0" anchor="t">
            <a:normAutofit/>
          </a:bodyPr>
          <a:lstStyle/>
          <a:p>
            <a:pPr algn="l" indent="0" marL="0">
              <a:lnSpc>
                <a:spcPts val="4320"/>
              </a:lnSpc>
              <a:buNone/>
            </a:pPr>
            <a:r>
              <a:rPr lang="en-US" sz="3600" b="1" dirty="0">
                <a:solidFill>
                  <a:srgbClr val="F09A5B"/>
                </a:solidFill>
                <a:latin typeface="JetBrains Mono" pitchFamily="49" charset="0"/>
                <a:ea typeface="JetBrains Mono" pitchFamily="49" charset="-122"/>
                <a:cs typeface="JetBrains Mono" pitchFamily="49" charset="-120"/>
              </a:rPr>
              <a:t>Δwᵢ = α · (t − ŷ) · xᵢ</a:t>
            </a:r>
            <a:endParaRPr lang="en-US" sz="3600" dirty="0"/>
          </a:p>
        </p:txBody>
      </p:sp>
      <p:sp>
        <p:nvSpPr>
          <p:cNvPr id="5" name="Shape 3"/>
          <p:cNvSpPr/>
          <p:nvPr/>
        </p:nvSpPr>
        <p:spPr>
          <a:xfrm>
            <a:off x="812800" y="4030346"/>
            <a:ext cx="2489200" cy="0"/>
          </a:xfrm>
          <a:prstGeom prst="line">
            <a:avLst/>
          </a:prstGeom>
          <a:noFill/>
          <a:ln w="19050">
            <a:solidFill>
              <a:srgbClr val="F09A5B"/>
            </a:solidFill>
            <a:prstDash val="solid"/>
          </a:ln>
        </p:spPr>
      </p:sp>
      <p:sp>
        <p:nvSpPr>
          <p:cNvPr id="6" name="Text 4"/>
          <p:cNvSpPr/>
          <p:nvPr/>
        </p:nvSpPr>
        <p:spPr>
          <a:xfrm>
            <a:off x="812800" y="4188464"/>
            <a:ext cx="2563876"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09A5B"/>
                </a:solidFill>
                <a:latin typeface="JetBrains Mono" pitchFamily="49" charset="0"/>
                <a:ea typeface="JetBrains Mono" pitchFamily="49" charset="-122"/>
                <a:cs typeface="JetBrains Mono" pitchFamily="49" charset="-120"/>
              </a:rPr>
              <a:t>α</a:t>
            </a:r>
            <a:endParaRPr lang="en-US" sz="1800" dirty="0"/>
          </a:p>
        </p:txBody>
      </p:sp>
      <p:sp>
        <p:nvSpPr>
          <p:cNvPr id="7" name="Text 5"/>
          <p:cNvSpPr/>
          <p:nvPr/>
        </p:nvSpPr>
        <p:spPr>
          <a:xfrm>
            <a:off x="812800" y="4559300"/>
            <a:ext cx="25638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9DA"/>
                </a:solidFill>
                <a:latin typeface="IBM Plex Sans" pitchFamily="34" charset="0"/>
                <a:ea typeface="IBM Plex Sans" pitchFamily="34" charset="-122"/>
                <a:cs typeface="IBM Plex Sans" pitchFamily="34" charset="-120"/>
              </a:rPr>
              <a:t>taux d’apprentissage</a:t>
            </a:r>
            <a:endParaRPr lang="en-US" sz="1400" dirty="0"/>
          </a:p>
        </p:txBody>
      </p:sp>
      <p:sp>
        <p:nvSpPr>
          <p:cNvPr id="8" name="Shape 6"/>
          <p:cNvSpPr/>
          <p:nvPr/>
        </p:nvSpPr>
        <p:spPr>
          <a:xfrm>
            <a:off x="3505200" y="4030346"/>
            <a:ext cx="2489200" cy="0"/>
          </a:xfrm>
          <a:prstGeom prst="line">
            <a:avLst/>
          </a:prstGeom>
          <a:noFill/>
          <a:ln w="19050">
            <a:solidFill>
              <a:srgbClr val="F09A5B"/>
            </a:solidFill>
            <a:prstDash val="solid"/>
          </a:ln>
        </p:spPr>
      </p:sp>
      <p:sp>
        <p:nvSpPr>
          <p:cNvPr id="9" name="Text 7"/>
          <p:cNvSpPr/>
          <p:nvPr/>
        </p:nvSpPr>
        <p:spPr>
          <a:xfrm>
            <a:off x="3505200" y="4188464"/>
            <a:ext cx="2563876"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09A5B"/>
                </a:solidFill>
                <a:latin typeface="JetBrains Mono" pitchFamily="49" charset="0"/>
                <a:ea typeface="JetBrains Mono" pitchFamily="49" charset="-122"/>
                <a:cs typeface="JetBrains Mono" pitchFamily="49" charset="-120"/>
              </a:rPr>
              <a:t>t</a:t>
            </a:r>
            <a:endParaRPr lang="en-US" sz="1800" dirty="0"/>
          </a:p>
        </p:txBody>
      </p:sp>
      <p:sp>
        <p:nvSpPr>
          <p:cNvPr id="10" name="Text 8"/>
          <p:cNvSpPr/>
          <p:nvPr/>
        </p:nvSpPr>
        <p:spPr>
          <a:xfrm>
            <a:off x="3505200" y="4559300"/>
            <a:ext cx="25638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9DA"/>
                </a:solidFill>
                <a:latin typeface="IBM Plex Sans" pitchFamily="34" charset="0"/>
                <a:ea typeface="IBM Plex Sans" pitchFamily="34" charset="-122"/>
                <a:cs typeface="IBM Plex Sans" pitchFamily="34" charset="-120"/>
              </a:rPr>
              <a:t>classe cible (réelle)</a:t>
            </a:r>
            <a:endParaRPr lang="en-US" sz="1400" dirty="0"/>
          </a:p>
        </p:txBody>
      </p:sp>
      <p:sp>
        <p:nvSpPr>
          <p:cNvPr id="11" name="Shape 9"/>
          <p:cNvSpPr/>
          <p:nvPr/>
        </p:nvSpPr>
        <p:spPr>
          <a:xfrm>
            <a:off x="6197600" y="4030346"/>
            <a:ext cx="2489200" cy="0"/>
          </a:xfrm>
          <a:prstGeom prst="line">
            <a:avLst/>
          </a:prstGeom>
          <a:noFill/>
          <a:ln w="19050">
            <a:solidFill>
              <a:srgbClr val="F09A5B"/>
            </a:solidFill>
            <a:prstDash val="solid"/>
          </a:ln>
        </p:spPr>
      </p:sp>
      <p:sp>
        <p:nvSpPr>
          <p:cNvPr id="12" name="Text 10"/>
          <p:cNvSpPr/>
          <p:nvPr/>
        </p:nvSpPr>
        <p:spPr>
          <a:xfrm>
            <a:off x="6197600" y="4188464"/>
            <a:ext cx="2563876"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09A5B"/>
                </a:solidFill>
                <a:latin typeface="JetBrains Mono" pitchFamily="49" charset="0"/>
                <a:ea typeface="JetBrains Mono" pitchFamily="49" charset="-122"/>
                <a:cs typeface="JetBrains Mono" pitchFamily="49" charset="-120"/>
              </a:rPr>
              <a:t>ŷ</a:t>
            </a:r>
            <a:endParaRPr lang="en-US" sz="1800" dirty="0"/>
          </a:p>
        </p:txBody>
      </p:sp>
      <p:sp>
        <p:nvSpPr>
          <p:cNvPr id="13" name="Text 11"/>
          <p:cNvSpPr/>
          <p:nvPr/>
        </p:nvSpPr>
        <p:spPr>
          <a:xfrm>
            <a:off x="6197600" y="4559300"/>
            <a:ext cx="25638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9DA"/>
                </a:solidFill>
                <a:latin typeface="IBM Plex Sans" pitchFamily="34" charset="0"/>
                <a:ea typeface="IBM Plex Sans" pitchFamily="34" charset="-122"/>
                <a:cs typeface="IBM Plex Sans" pitchFamily="34" charset="-120"/>
              </a:rPr>
              <a:t>classe prédite</a:t>
            </a:r>
            <a:endParaRPr lang="en-US" sz="1400" dirty="0"/>
          </a:p>
        </p:txBody>
      </p:sp>
      <p:sp>
        <p:nvSpPr>
          <p:cNvPr id="14" name="Shape 12"/>
          <p:cNvSpPr/>
          <p:nvPr/>
        </p:nvSpPr>
        <p:spPr>
          <a:xfrm>
            <a:off x="8890000" y="4030346"/>
            <a:ext cx="2489200" cy="0"/>
          </a:xfrm>
          <a:prstGeom prst="line">
            <a:avLst/>
          </a:prstGeom>
          <a:noFill/>
          <a:ln w="19050">
            <a:solidFill>
              <a:srgbClr val="F09A5B"/>
            </a:solidFill>
            <a:prstDash val="solid"/>
          </a:ln>
        </p:spPr>
      </p:sp>
      <p:sp>
        <p:nvSpPr>
          <p:cNvPr id="15" name="Text 13"/>
          <p:cNvSpPr/>
          <p:nvPr/>
        </p:nvSpPr>
        <p:spPr>
          <a:xfrm>
            <a:off x="8890000" y="4188464"/>
            <a:ext cx="2563876"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F09A5B"/>
                </a:solidFill>
                <a:latin typeface="JetBrains Mono" pitchFamily="49" charset="0"/>
                <a:ea typeface="JetBrains Mono" pitchFamily="49" charset="-122"/>
                <a:cs typeface="JetBrains Mono" pitchFamily="49" charset="-120"/>
              </a:rPr>
              <a:t>xᵢ</a:t>
            </a:r>
            <a:endParaRPr lang="en-US" sz="1800" dirty="0"/>
          </a:p>
        </p:txBody>
      </p:sp>
      <p:sp>
        <p:nvSpPr>
          <p:cNvPr id="16" name="Text 14"/>
          <p:cNvSpPr/>
          <p:nvPr/>
        </p:nvSpPr>
        <p:spPr>
          <a:xfrm>
            <a:off x="8890000" y="4559300"/>
            <a:ext cx="25638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9DA"/>
                </a:solidFill>
                <a:latin typeface="IBM Plex Sans" pitchFamily="34" charset="0"/>
                <a:ea typeface="IBM Plex Sans" pitchFamily="34" charset="-122"/>
                <a:cs typeface="IBM Plex Sans" pitchFamily="34" charset="-120"/>
              </a:rPr>
              <a:t>entrée correspondante</a:t>
            </a:r>
            <a:endParaRPr lang="en-US" sz="1400" dirty="0"/>
          </a:p>
        </p:txBody>
      </p:sp>
      <p:sp>
        <p:nvSpPr>
          <p:cNvPr id="17" name="Text 15"/>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9DA"/>
                </a:solidFill>
                <a:latin typeface="IBM Plex Sans" pitchFamily="34" charset="0"/>
                <a:ea typeface="IBM Plex Sans" pitchFamily="34" charset="-122"/>
                <a:cs typeface="IBM Plex Sans" pitchFamily="34" charset="-120"/>
              </a:rPr>
              <a:t>Le perceptron · 08</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AE6D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EXEMPLE</a:t>
            </a:r>
            <a:endParaRPr lang="en-US" sz="1200" dirty="0"/>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Quatre données d’entraînement</a:t>
            </a:r>
            <a:endParaRPr lang="en-US" sz="3200" dirty="0"/>
          </a:p>
        </p:txBody>
      </p:sp>
      <p:sp>
        <p:nvSpPr>
          <p:cNvPr id="4" name="Shape 2"/>
          <p:cNvSpPr/>
          <p:nvPr/>
        </p:nvSpPr>
        <p:spPr>
          <a:xfrm>
            <a:off x="812800" y="1899921"/>
            <a:ext cx="6451600" cy="2061210"/>
          </a:xfrm>
          <a:prstGeom prst="roundRect">
            <a:avLst>
              <a:gd name="adj" fmla="val 4929"/>
            </a:avLst>
          </a:prstGeom>
          <a:solidFill>
            <a:srgbClr val="FFFFFF"/>
          </a:solidFill>
          <a:ln/>
        </p:spPr>
      </p:sp>
      <p:sp>
        <p:nvSpPr>
          <p:cNvPr id="5" name="Shape 3"/>
          <p:cNvSpPr/>
          <p:nvPr/>
        </p:nvSpPr>
        <p:spPr>
          <a:xfrm>
            <a:off x="812800" y="1899921"/>
            <a:ext cx="6451600" cy="2061210"/>
          </a:xfrm>
          <a:custGeom>
            <a:avLst/>
            <a:gdLst/>
            <a:ahLst/>
            <a:cxnLst/>
            <a:rect l="l" t="t" r="r" b="b"/>
            <a:pathLst>
              <a:path w="6451600" h="2061210">
                <a:moveTo>
                  <a:pt x="101600" y="2061210"/>
                </a:moveTo>
                <a:lnTo>
                  <a:pt x="101600" y="2061210"/>
                </a:lnTo>
                <a:arcTo hR="101600" wR="101600" stAng="5400000" swAng="5400000"/>
                <a:lnTo>
                  <a:pt x="0" y="101600"/>
                </a:lnTo>
                <a:arcTo hR="101600" wR="101600" stAng="10800000" swAng="5400000"/>
                <a:lnTo>
                  <a:pt x="6350000" y="0"/>
                </a:lnTo>
                <a:arcTo hR="101600" wR="101600" stAng="16200000" swAng="5400000"/>
                <a:lnTo>
                  <a:pt x="6451600" y="101600"/>
                </a:lnTo>
                <a:arcTo hR="91440" wR="101600" stAng="0" swAng="-5400000"/>
                <a:lnTo>
                  <a:pt x="101600" y="10160"/>
                </a:lnTo>
                <a:arcTo hR="91440" wR="91440" stAng="16200000" swAng="-5400000"/>
                <a:lnTo>
                  <a:pt x="10160" y="1959610"/>
                </a:lnTo>
                <a:arcTo hR="101600" wR="91440" stAng="10800000" swAng="-5400000"/>
                <a:close/>
              </a:path>
            </a:pathLst>
          </a:custGeom>
          <a:solidFill>
            <a:srgbClr val="141413">
              <a:alpha val="22000"/>
            </a:srgbClr>
          </a:solidFill>
          <a:ln/>
        </p:spPr>
      </p:sp>
      <p:sp>
        <p:nvSpPr>
          <p:cNvPr id="6" name="Shape 4"/>
          <p:cNvSpPr/>
          <p:nvPr/>
        </p:nvSpPr>
        <p:spPr>
          <a:xfrm>
            <a:off x="822960" y="1910081"/>
            <a:ext cx="6441440" cy="410210"/>
          </a:xfrm>
          <a:custGeom>
            <a:avLst/>
            <a:gdLst/>
            <a:ahLst/>
            <a:cxnLst/>
            <a:rect l="l" t="t" r="r" b="b"/>
            <a:pathLst>
              <a:path w="6441440" h="410210">
                <a:moveTo>
                  <a:pt x="0" y="91440"/>
                </a:moveTo>
                <a:arcTo hR="91440" wR="91440" stAng="10800000" swAng="5400000"/>
                <a:lnTo>
                  <a:pt x="6339840" y="0"/>
                </a:lnTo>
                <a:arcTo hR="101600" wR="101600" stAng="16200000" swAng="5400000"/>
                <a:lnTo>
                  <a:pt x="6441440" y="410210"/>
                </a:lnTo>
                <a:lnTo>
                  <a:pt x="0" y="410210"/>
                </a:lnTo>
                <a:close/>
              </a:path>
            </a:pathLst>
          </a:custGeom>
          <a:solidFill>
            <a:srgbClr val="ECECEC"/>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910081"/>
          <a:ext cx="6441440" cy="2051050"/>
        </p:xfrm>
        <a:graphic>
          <a:graphicData uri="http://schemas.openxmlformats.org/drawingml/2006/table">
            <a:tbl>
              <a:tblPr/>
              <a:tblGrid>
                <a:gridCol w="1545946"/>
                <a:gridCol w="1159459"/>
                <a:gridCol w="1159459"/>
                <a:gridCol w="2576576"/>
              </a:tblGrid>
              <a:tr h="410210">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Entrée</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algn="ct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x₁</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algn="ct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x₂</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Classe 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E1</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 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E2</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0,8</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 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E3</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 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10210">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E4</a:t>
                      </a:r>
                      <a:endParaRPr lang="en-US" sz="1500" dirty="0">
                        <a:latin typeface="IBM Plex Sans" charset="0"/>
                        <a:ea typeface="IBM Plex Sans" charset="0"/>
                        <a:cs typeface="IBM Plex Sans" charset="0"/>
                      </a:endParaRPr>
                    </a:p>
                  </a:txBody>
                  <a:tcPr marL="66675" marR="66675" marT="66675" marB="66675"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0,5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1,5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 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Shape 5"/>
          <p:cNvSpPr/>
          <p:nvPr/>
        </p:nvSpPr>
        <p:spPr>
          <a:xfrm>
            <a:off x="812800" y="4113529"/>
            <a:ext cx="6451600" cy="1282700"/>
          </a:xfrm>
          <a:prstGeom prst="roundRect">
            <a:avLst>
              <a:gd name="adj" fmla="val 7921"/>
            </a:avLst>
          </a:prstGeom>
          <a:solidFill>
            <a:srgbClr val="14213D"/>
          </a:solidFill>
          <a:ln/>
        </p:spPr>
      </p:sp>
      <p:sp>
        <p:nvSpPr>
          <p:cNvPr id="9" name="Text 6"/>
          <p:cNvSpPr/>
          <p:nvPr/>
        </p:nvSpPr>
        <p:spPr>
          <a:xfrm>
            <a:off x="1066800" y="4316729"/>
            <a:ext cx="6121908"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9A5B"/>
                </a:solidFill>
                <a:latin typeface="Space Grotesk" pitchFamily="34" charset="0"/>
                <a:ea typeface="Space Grotesk" pitchFamily="34" charset="-122"/>
                <a:cs typeface="Space Grotesk" pitchFamily="34" charset="-120"/>
              </a:rPr>
              <a:t>Initialisation</a:t>
            </a:r>
            <a:endParaRPr lang="en-US" sz="1600" dirty="0"/>
          </a:p>
        </p:txBody>
      </p:sp>
      <p:sp>
        <p:nvSpPr>
          <p:cNvPr id="10" name="Text 7"/>
          <p:cNvSpPr/>
          <p:nvPr/>
        </p:nvSpPr>
        <p:spPr>
          <a:xfrm>
            <a:off x="1066800" y="4636771"/>
            <a:ext cx="612190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JetBrains Mono" pitchFamily="49" charset="0"/>
                <a:ea typeface="JetBrains Mono" pitchFamily="49" charset="-122"/>
                <a:cs typeface="JetBrains Mono" pitchFamily="49" charset="-120"/>
              </a:rPr>
              <a:t>α = 0,1 · w₁ = w₂ = 0 · b = 0</a:t>
            </a:r>
            <a:endParaRPr lang="en-US" sz="1400" dirty="0"/>
          </a:p>
        </p:txBody>
      </p:sp>
      <p:sp>
        <p:nvSpPr>
          <p:cNvPr id="11" name="Text 8"/>
          <p:cNvSpPr/>
          <p:nvPr/>
        </p:nvSpPr>
        <p:spPr>
          <a:xfrm>
            <a:off x="1066800" y="4961892"/>
            <a:ext cx="612190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9DA"/>
                </a:solidFill>
                <a:latin typeface="IBM Plex Sans" pitchFamily="34" charset="0"/>
                <a:ea typeface="IBM Plex Sans" pitchFamily="34" charset="-122"/>
                <a:cs typeface="IBM Plex Sans" pitchFamily="34" charset="-120"/>
              </a:rPr>
              <a:t>L’entrée du biais vaut toujours 1.</a:t>
            </a:r>
            <a:endParaRPr lang="en-US" sz="1300" dirty="0"/>
          </a:p>
        </p:txBody>
      </p:sp>
      <p:sp>
        <p:nvSpPr>
          <p:cNvPr id="12" name="Shape 9"/>
          <p:cNvSpPr/>
          <p:nvPr/>
        </p:nvSpPr>
        <p:spPr>
          <a:xfrm>
            <a:off x="7569200" y="1899921"/>
            <a:ext cx="3810000" cy="3810000"/>
          </a:xfrm>
          <a:prstGeom prst="roundRect">
            <a:avLst>
              <a:gd name="adj" fmla="val 2667"/>
            </a:avLst>
          </a:prstGeom>
          <a:solidFill>
            <a:srgbClr val="FFFFFF"/>
          </a:solidFill>
          <a:ln/>
        </p:spPr>
      </p:sp>
      <p:pic>
        <p:nvPicPr>
          <p:cNvPr id="13" name="Image 0" descr="Les quatre données dans le plan : E1 et E3, de classe 1, en bas à droite ; E2 et E4, de classe 0, plus haut à gauche">    </p:cNvPr>
          <p:cNvPicPr>
            <a:picLocks noChangeAspect="1"/>
          </p:cNvPicPr>
          <p:nvPr/>
        </p:nvPicPr>
        <p:blipFill>
          <a:blip r:embed="rId1"/>
          <a:srcRect l="0" r="0" t="0" b="0"/>
          <a:stretch/>
        </p:blipFill>
        <p:spPr>
          <a:xfrm>
            <a:off x="7569200" y="1899921"/>
            <a:ext cx="3810000" cy="3810000"/>
          </a:xfrm>
          <a:prstGeom prst="roundRect">
            <a:avLst>
              <a:gd name="adj" fmla="val 2667"/>
            </a:avLst>
          </a:prstGeom>
        </p:spPr>
      </p:pic>
      <p:sp>
        <p:nvSpPr>
          <p:cNvPr id="14" name="Text 10"/>
          <p:cNvSpPr/>
          <p:nvPr/>
        </p:nvSpPr>
        <p:spPr>
          <a:xfrm>
            <a:off x="10871200" y="4554221"/>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x₁</a:t>
            </a:r>
            <a:endParaRPr lang="en-US" sz="1200" dirty="0"/>
          </a:p>
        </p:txBody>
      </p:sp>
      <p:sp>
        <p:nvSpPr>
          <p:cNvPr id="15" name="Text 11"/>
          <p:cNvSpPr/>
          <p:nvPr/>
        </p:nvSpPr>
        <p:spPr>
          <a:xfrm>
            <a:off x="8826500" y="2153921"/>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x₂</a:t>
            </a:r>
            <a:endParaRPr lang="en-US" sz="1200" dirty="0"/>
          </a:p>
        </p:txBody>
      </p:sp>
      <p:sp>
        <p:nvSpPr>
          <p:cNvPr id="16" name="Text 12"/>
          <p:cNvSpPr/>
          <p:nvPr/>
        </p:nvSpPr>
        <p:spPr>
          <a:xfrm>
            <a:off x="8585200" y="45415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a:t>
            </a:r>
            <a:endParaRPr lang="en-US" sz="1200" dirty="0"/>
          </a:p>
        </p:txBody>
      </p:sp>
      <p:sp>
        <p:nvSpPr>
          <p:cNvPr id="17" name="Text 13"/>
          <p:cNvSpPr/>
          <p:nvPr/>
        </p:nvSpPr>
        <p:spPr>
          <a:xfrm>
            <a:off x="9664700" y="45669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18" name="Text 14"/>
          <p:cNvSpPr/>
          <p:nvPr/>
        </p:nvSpPr>
        <p:spPr>
          <a:xfrm>
            <a:off x="10604500" y="45669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19" name="Text 15"/>
          <p:cNvSpPr/>
          <p:nvPr/>
        </p:nvSpPr>
        <p:spPr>
          <a:xfrm>
            <a:off x="8585200" y="34493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20" name="Text 16"/>
          <p:cNvSpPr/>
          <p:nvPr/>
        </p:nvSpPr>
        <p:spPr>
          <a:xfrm>
            <a:off x="8585200" y="25095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21" name="Text 17"/>
          <p:cNvSpPr/>
          <p:nvPr/>
        </p:nvSpPr>
        <p:spPr>
          <a:xfrm>
            <a:off x="9804400" y="36144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E1</a:t>
            </a:r>
            <a:endParaRPr lang="en-US" sz="1200" dirty="0"/>
          </a:p>
        </p:txBody>
      </p:sp>
      <p:sp>
        <p:nvSpPr>
          <p:cNvPr id="22" name="Text 18"/>
          <p:cNvSpPr/>
          <p:nvPr/>
        </p:nvSpPr>
        <p:spPr>
          <a:xfrm>
            <a:off x="9626600" y="27889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E2</a:t>
            </a:r>
            <a:endParaRPr lang="en-US" sz="1200" dirty="0"/>
          </a:p>
        </p:txBody>
      </p:sp>
      <p:sp>
        <p:nvSpPr>
          <p:cNvPr id="23" name="Text 19"/>
          <p:cNvSpPr/>
          <p:nvPr/>
        </p:nvSpPr>
        <p:spPr>
          <a:xfrm>
            <a:off x="10744200" y="36144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E3</a:t>
            </a:r>
            <a:endParaRPr lang="en-US" sz="1200" dirty="0"/>
          </a:p>
        </p:txBody>
      </p:sp>
      <p:sp>
        <p:nvSpPr>
          <p:cNvPr id="24" name="Text 20"/>
          <p:cNvSpPr/>
          <p:nvPr/>
        </p:nvSpPr>
        <p:spPr>
          <a:xfrm>
            <a:off x="8788400" y="2915921"/>
            <a:ext cx="3556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E4</a:t>
            </a:r>
            <a:endParaRPr lang="en-US" sz="1200" dirty="0"/>
          </a:p>
        </p:txBody>
      </p:sp>
      <p:sp>
        <p:nvSpPr>
          <p:cNvPr id="25" name="Text 21"/>
          <p:cNvSpPr/>
          <p:nvPr/>
        </p:nvSpPr>
        <p:spPr>
          <a:xfrm>
            <a:off x="812800" y="6238242"/>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09</a:t>
            </a:r>
            <a:endParaRPr lang="en-US" sz="1200" dirty="0"/>
          </a:p>
        </p:txBody>
      </p:sp>
      <p:sp>
        <p:nvSpPr>
          <p:cNvPr id="26" name="Text 22"/>
          <p:cNvSpPr/>
          <p:nvPr/>
        </p:nvSpPr>
        <p:spPr>
          <a:xfrm>
            <a:off x="5492750" y="6238242"/>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classe 1 · ● classe 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AE6D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EXEMPLE · ÉPOQUE 1</a:t>
            </a:r>
            <a:endParaRPr lang="en-US" sz="1200" dirty="0"/>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Itération 1 · E1 = (1 ; 1), classe 1</a:t>
            </a:r>
            <a:endParaRPr lang="en-US" sz="3200" dirty="0"/>
          </a:p>
        </p:txBody>
      </p:sp>
      <p:sp>
        <p:nvSpPr>
          <p:cNvPr id="4" name="Text 2"/>
          <p:cNvSpPr/>
          <p:nvPr/>
        </p:nvSpPr>
        <p:spPr>
          <a:xfrm>
            <a:off x="812800" y="1915164"/>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Poids avant</a:t>
            </a:r>
            <a:endParaRPr lang="en-US" sz="1300" dirty="0"/>
          </a:p>
        </p:txBody>
      </p:sp>
      <p:sp>
        <p:nvSpPr>
          <p:cNvPr id="5" name="Text 3"/>
          <p:cNvSpPr/>
          <p:nvPr/>
        </p:nvSpPr>
        <p:spPr>
          <a:xfrm>
            <a:off x="2489200" y="1899921"/>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(0 ; 0 ; 0)</a:t>
            </a:r>
            <a:endParaRPr lang="en-US" sz="1400" dirty="0"/>
          </a:p>
        </p:txBody>
      </p:sp>
      <p:sp>
        <p:nvSpPr>
          <p:cNvPr id="6" name="Text 4"/>
          <p:cNvSpPr/>
          <p:nvPr/>
        </p:nvSpPr>
        <p:spPr>
          <a:xfrm>
            <a:off x="812800" y="22529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Sommation</a:t>
            </a:r>
            <a:endParaRPr lang="en-US" sz="1300" dirty="0"/>
          </a:p>
        </p:txBody>
      </p:sp>
      <p:sp>
        <p:nvSpPr>
          <p:cNvPr id="7" name="Text 5"/>
          <p:cNvSpPr/>
          <p:nvPr/>
        </p:nvSpPr>
        <p:spPr>
          <a:xfrm>
            <a:off x="2489200" y="2237742"/>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 = 0×1 + 0×1 + 0 = </a:t>
            </a:r>
            <a:r>
              <a:rPr lang="en-US" sz="1400" b="1" dirty="0">
                <a:solidFill>
                  <a:srgbClr val="14213D"/>
                </a:solidFill>
                <a:latin typeface="JetBrains Mono" pitchFamily="49" charset="0"/>
                <a:ea typeface="JetBrains Mono" pitchFamily="49" charset="-122"/>
                <a:cs typeface="JetBrains Mono" pitchFamily="49" charset="-120"/>
              </a:rPr>
              <a:t>0</a:t>
            </a:r>
            <a:endParaRPr lang="en-US" sz="1400" dirty="0"/>
          </a:p>
        </p:txBody>
      </p:sp>
      <p:sp>
        <p:nvSpPr>
          <p:cNvPr id="8" name="Text 6"/>
          <p:cNvSpPr/>
          <p:nvPr/>
        </p:nvSpPr>
        <p:spPr>
          <a:xfrm>
            <a:off x="812800" y="25908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Activation</a:t>
            </a:r>
            <a:endParaRPr lang="en-US" sz="1300" dirty="0"/>
          </a:p>
        </p:txBody>
      </p:sp>
      <p:sp>
        <p:nvSpPr>
          <p:cNvPr id="9" name="Text 7"/>
          <p:cNvSpPr/>
          <p:nvPr/>
        </p:nvSpPr>
        <p:spPr>
          <a:xfrm>
            <a:off x="2489200" y="2575564"/>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 ≤ 0 ⇒ ŷ = </a:t>
            </a:r>
            <a:r>
              <a:rPr lang="en-US" sz="1400" b="1" dirty="0">
                <a:solidFill>
                  <a:srgbClr val="14213D"/>
                </a:solidFill>
                <a:latin typeface="JetBrains Mono" pitchFamily="49" charset="0"/>
                <a:ea typeface="JetBrains Mono" pitchFamily="49" charset="-122"/>
                <a:cs typeface="JetBrains Mono" pitchFamily="49" charset="-120"/>
              </a:rPr>
              <a:t>0</a:t>
            </a:r>
            <a:endParaRPr lang="en-US" sz="1400" dirty="0"/>
          </a:p>
        </p:txBody>
      </p:sp>
      <p:sp>
        <p:nvSpPr>
          <p:cNvPr id="10" name="Text 8"/>
          <p:cNvSpPr/>
          <p:nvPr/>
        </p:nvSpPr>
        <p:spPr>
          <a:xfrm>
            <a:off x="812800" y="2928621"/>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Comparaison</a:t>
            </a:r>
            <a:endParaRPr lang="en-US" sz="1300" dirty="0"/>
          </a:p>
        </p:txBody>
      </p:sp>
      <p:sp>
        <p:nvSpPr>
          <p:cNvPr id="11" name="Text 9"/>
          <p:cNvSpPr/>
          <p:nvPr/>
        </p:nvSpPr>
        <p:spPr>
          <a:xfrm>
            <a:off x="2489200" y="2913379"/>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541C"/>
                </a:solidFill>
                <a:latin typeface="JetBrains Mono" pitchFamily="49" charset="0"/>
                <a:ea typeface="JetBrains Mono" pitchFamily="49" charset="-122"/>
                <a:cs typeface="JetBrains Mono" pitchFamily="49" charset="-120"/>
              </a:rPr>
              <a:t>ŷ = 0 ≠ t = 1 → erreur</a:t>
            </a:r>
            <a:endParaRPr lang="en-US" sz="1400" dirty="0"/>
          </a:p>
        </p:txBody>
      </p:sp>
      <p:sp>
        <p:nvSpPr>
          <p:cNvPr id="12" name="Text 10"/>
          <p:cNvSpPr/>
          <p:nvPr/>
        </p:nvSpPr>
        <p:spPr>
          <a:xfrm>
            <a:off x="812800" y="3266442"/>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Correction</a:t>
            </a:r>
            <a:endParaRPr lang="en-US" sz="1300" dirty="0"/>
          </a:p>
        </p:txBody>
      </p:sp>
      <p:sp>
        <p:nvSpPr>
          <p:cNvPr id="13" name="Text 11"/>
          <p:cNvSpPr/>
          <p:nvPr/>
        </p:nvSpPr>
        <p:spPr>
          <a:xfrm>
            <a:off x="2489200" y="3251200"/>
            <a:ext cx="49184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Δw = 0,1 × (1 − 0) × (1 ; 1 ; 1)</a:t>
            </a:r>
            <a:endParaRPr lang="en-US" sz="1400" dirty="0"/>
          </a:p>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 (0,1 ; 0,1 ; 0,1)</a:t>
            </a:r>
            <a:endParaRPr lang="en-US" sz="1400" dirty="0"/>
          </a:p>
        </p:txBody>
      </p:sp>
      <p:sp>
        <p:nvSpPr>
          <p:cNvPr id="14" name="Text 12"/>
          <p:cNvSpPr/>
          <p:nvPr/>
        </p:nvSpPr>
        <p:spPr>
          <a:xfrm>
            <a:off x="812800" y="38531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Nouveaux poids</a:t>
            </a:r>
            <a:endParaRPr lang="en-US" sz="1300" dirty="0"/>
          </a:p>
        </p:txBody>
      </p:sp>
      <p:sp>
        <p:nvSpPr>
          <p:cNvPr id="15" name="Text 13"/>
          <p:cNvSpPr/>
          <p:nvPr/>
        </p:nvSpPr>
        <p:spPr>
          <a:xfrm>
            <a:off x="2489200" y="3837942"/>
            <a:ext cx="491845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JetBrains Mono" pitchFamily="49" charset="0"/>
                <a:ea typeface="JetBrains Mono" pitchFamily="49" charset="-122"/>
                <a:cs typeface="JetBrains Mono" pitchFamily="49" charset="-120"/>
              </a:rPr>
              <a:t>(0,1 ; 0,1 ; 0,1)</a:t>
            </a:r>
            <a:endParaRPr lang="en-US" sz="1400" dirty="0"/>
          </a:p>
        </p:txBody>
      </p:sp>
      <p:sp>
        <p:nvSpPr>
          <p:cNvPr id="16" name="Text 14"/>
          <p:cNvSpPr/>
          <p:nvPr/>
        </p:nvSpPr>
        <p:spPr>
          <a:xfrm>
            <a:off x="812800" y="41910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Droite (y = 0)</a:t>
            </a:r>
            <a:endParaRPr lang="en-US" sz="1300" dirty="0"/>
          </a:p>
        </p:txBody>
      </p:sp>
      <p:sp>
        <p:nvSpPr>
          <p:cNvPr id="17" name="Text 15"/>
          <p:cNvSpPr/>
          <p:nvPr/>
        </p:nvSpPr>
        <p:spPr>
          <a:xfrm>
            <a:off x="2489200" y="4175764"/>
            <a:ext cx="491845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JetBrains Mono" pitchFamily="49" charset="0"/>
                <a:ea typeface="JetBrains Mono" pitchFamily="49" charset="-122"/>
                <a:cs typeface="JetBrains Mono" pitchFamily="49" charset="-120"/>
              </a:rPr>
              <a:t>x₂ = −x₁ − 1</a:t>
            </a:r>
            <a:endParaRPr lang="en-US" sz="1400" dirty="0"/>
          </a:p>
        </p:txBody>
      </p:sp>
      <p:sp>
        <p:nvSpPr>
          <p:cNvPr id="18" name="Shape 16"/>
          <p:cNvSpPr/>
          <p:nvPr/>
        </p:nvSpPr>
        <p:spPr>
          <a:xfrm>
            <a:off x="812800" y="5207000"/>
            <a:ext cx="6451600" cy="502920"/>
          </a:xfrm>
          <a:prstGeom prst="roundRect">
            <a:avLst>
              <a:gd name="adj" fmla="val 20202"/>
            </a:avLst>
          </a:prstGeom>
          <a:solidFill>
            <a:srgbClr val="14213D"/>
          </a:solidFill>
          <a:ln/>
        </p:spPr>
      </p:sp>
      <p:sp>
        <p:nvSpPr>
          <p:cNvPr id="19" name="Text 17"/>
          <p:cNvSpPr/>
          <p:nvPr/>
        </p:nvSpPr>
        <p:spPr>
          <a:xfrm>
            <a:off x="1016000" y="5334000"/>
            <a:ext cx="295446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Erreur</a:t>
            </a:r>
            <a:r>
              <a:rPr lang="en-US" sz="1400" dirty="0">
                <a:solidFill>
                  <a:srgbClr val="F6F4EE"/>
                </a:solidFill>
                <a:latin typeface="IBM Plex Sans" pitchFamily="34" charset="0"/>
                <a:ea typeface="IBM Plex Sans" pitchFamily="34" charset="-122"/>
                <a:cs typeface="IBM Plex Sans" pitchFamily="34" charset="-120"/>
              </a:rPr>
              <a:t> → mise à jour des poids</a:t>
            </a:r>
            <a:endParaRPr lang="en-US" sz="1400" dirty="0"/>
          </a:p>
        </p:txBody>
      </p:sp>
      <p:sp>
        <p:nvSpPr>
          <p:cNvPr id="20" name="Text 18"/>
          <p:cNvSpPr/>
          <p:nvPr/>
        </p:nvSpPr>
        <p:spPr>
          <a:xfrm>
            <a:off x="4726908" y="5334000"/>
            <a:ext cx="2334292"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09A5B"/>
                </a:solidFill>
                <a:latin typeface="IBM Plex Sans" pitchFamily="34" charset="0"/>
                <a:ea typeface="IBM Plex Sans" pitchFamily="34" charset="-122"/>
                <a:cs typeface="IBM Plex Sans" pitchFamily="34" charset="-120"/>
              </a:rPr>
              <a:t>Erreurs restantes : 2 / 4</a:t>
            </a:r>
            <a:endParaRPr lang="en-US" sz="1400" dirty="0"/>
          </a:p>
        </p:txBody>
      </p:sp>
      <p:sp>
        <p:nvSpPr>
          <p:cNvPr id="21" name="Shape 19"/>
          <p:cNvSpPr/>
          <p:nvPr/>
        </p:nvSpPr>
        <p:spPr>
          <a:xfrm>
            <a:off x="7569200" y="1899921"/>
            <a:ext cx="3810000" cy="3810000"/>
          </a:xfrm>
          <a:prstGeom prst="roundRect">
            <a:avLst>
              <a:gd name="adj" fmla="val 2667"/>
            </a:avLst>
          </a:prstGeom>
          <a:solidFill>
            <a:srgbClr val="FFFFFF"/>
          </a:solidFill>
          <a:ln/>
        </p:spPr>
      </p:sp>
      <p:pic>
        <p:nvPicPr>
          <p:cNvPr id="22" name="Image 0" descr="Itération 1 : la droite x2 = −x1 − 1 passe en bas à gauche ; les quatre données sont du côté prédit 1, donc E2 et E4 sont mal classées">    </p:cNvPr>
          <p:cNvPicPr>
            <a:picLocks noChangeAspect="1"/>
          </p:cNvPicPr>
          <p:nvPr/>
        </p:nvPicPr>
        <p:blipFill>
          <a:blip r:embed="rId1"/>
          <a:srcRect l="0" r="0" t="0" b="0"/>
          <a:stretch/>
        </p:blipFill>
        <p:spPr>
          <a:xfrm>
            <a:off x="7569200" y="1899921"/>
            <a:ext cx="3810000" cy="3810000"/>
          </a:xfrm>
          <a:prstGeom prst="roundRect">
            <a:avLst>
              <a:gd name="adj" fmla="val 2667"/>
            </a:avLst>
          </a:prstGeom>
        </p:spPr>
      </p:pic>
      <p:sp>
        <p:nvSpPr>
          <p:cNvPr id="23" name="Text 20"/>
          <p:cNvSpPr/>
          <p:nvPr/>
        </p:nvSpPr>
        <p:spPr>
          <a:xfrm>
            <a:off x="10871200" y="4554221"/>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x₁</a:t>
            </a:r>
            <a:endParaRPr lang="en-US" sz="1200" dirty="0"/>
          </a:p>
        </p:txBody>
      </p:sp>
      <p:sp>
        <p:nvSpPr>
          <p:cNvPr id="24" name="Text 21"/>
          <p:cNvSpPr/>
          <p:nvPr/>
        </p:nvSpPr>
        <p:spPr>
          <a:xfrm>
            <a:off x="8826500" y="2153921"/>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x₂</a:t>
            </a:r>
            <a:endParaRPr lang="en-US" sz="1200" dirty="0"/>
          </a:p>
        </p:txBody>
      </p:sp>
      <p:sp>
        <p:nvSpPr>
          <p:cNvPr id="25" name="Text 22"/>
          <p:cNvSpPr/>
          <p:nvPr/>
        </p:nvSpPr>
        <p:spPr>
          <a:xfrm>
            <a:off x="8585200" y="45415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a:t>
            </a:r>
            <a:endParaRPr lang="en-US" sz="1200" dirty="0"/>
          </a:p>
        </p:txBody>
      </p:sp>
      <p:sp>
        <p:nvSpPr>
          <p:cNvPr id="26" name="Text 23"/>
          <p:cNvSpPr/>
          <p:nvPr/>
        </p:nvSpPr>
        <p:spPr>
          <a:xfrm>
            <a:off x="9664700" y="45669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27" name="Text 24"/>
          <p:cNvSpPr/>
          <p:nvPr/>
        </p:nvSpPr>
        <p:spPr>
          <a:xfrm>
            <a:off x="10604500" y="45669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28" name="Text 25"/>
          <p:cNvSpPr/>
          <p:nvPr/>
        </p:nvSpPr>
        <p:spPr>
          <a:xfrm>
            <a:off x="8585200" y="34493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29" name="Text 26"/>
          <p:cNvSpPr/>
          <p:nvPr/>
        </p:nvSpPr>
        <p:spPr>
          <a:xfrm>
            <a:off x="8585200" y="25095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30" name="Text 27"/>
          <p:cNvSpPr/>
          <p:nvPr/>
        </p:nvSpPr>
        <p:spPr>
          <a:xfrm>
            <a:off x="9918700" y="36906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E1</a:t>
            </a:r>
            <a:endParaRPr lang="en-US" sz="1200" dirty="0"/>
          </a:p>
        </p:txBody>
      </p:sp>
      <p:sp>
        <p:nvSpPr>
          <p:cNvPr id="31" name="Text 28"/>
          <p:cNvSpPr/>
          <p:nvPr/>
        </p:nvSpPr>
        <p:spPr>
          <a:xfrm>
            <a:off x="9626600" y="27889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E2</a:t>
            </a:r>
            <a:endParaRPr lang="en-US" sz="1200" dirty="0"/>
          </a:p>
        </p:txBody>
      </p:sp>
      <p:sp>
        <p:nvSpPr>
          <p:cNvPr id="32" name="Text 29"/>
          <p:cNvSpPr/>
          <p:nvPr/>
        </p:nvSpPr>
        <p:spPr>
          <a:xfrm>
            <a:off x="10744200" y="36144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E3</a:t>
            </a:r>
            <a:endParaRPr lang="en-US" sz="1200" dirty="0"/>
          </a:p>
        </p:txBody>
      </p:sp>
      <p:sp>
        <p:nvSpPr>
          <p:cNvPr id="33" name="Text 30"/>
          <p:cNvSpPr/>
          <p:nvPr/>
        </p:nvSpPr>
        <p:spPr>
          <a:xfrm>
            <a:off x="8788400" y="2915921"/>
            <a:ext cx="3556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E4</a:t>
            </a:r>
            <a:endParaRPr lang="en-US" sz="1200" dirty="0"/>
          </a:p>
        </p:txBody>
      </p:sp>
      <p:sp>
        <p:nvSpPr>
          <p:cNvPr id="34" name="Text 31"/>
          <p:cNvSpPr/>
          <p:nvPr/>
        </p:nvSpPr>
        <p:spPr>
          <a:xfrm>
            <a:off x="812800" y="6238242"/>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10</a:t>
            </a:r>
            <a:endParaRPr lang="en-US" sz="1200" dirty="0"/>
          </a:p>
        </p:txBody>
      </p:sp>
      <p:sp>
        <p:nvSpPr>
          <p:cNvPr id="35" name="Text 32"/>
          <p:cNvSpPr/>
          <p:nvPr/>
        </p:nvSpPr>
        <p:spPr>
          <a:xfrm>
            <a:off x="5492750" y="6238242"/>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classe 1 · ● classe 0 · zone orangée : ŷ = 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AE6D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EXEMPLE · ÉPOQUE 1</a:t>
            </a:r>
            <a:endParaRPr lang="en-US" sz="1200" dirty="0"/>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Itération 2 · E2 = (0,8 ; 1,6), classe 0</a:t>
            </a:r>
            <a:endParaRPr lang="en-US" sz="3200" dirty="0"/>
          </a:p>
        </p:txBody>
      </p:sp>
      <p:sp>
        <p:nvSpPr>
          <p:cNvPr id="4" name="Text 2"/>
          <p:cNvSpPr/>
          <p:nvPr/>
        </p:nvSpPr>
        <p:spPr>
          <a:xfrm>
            <a:off x="812800" y="1915164"/>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Poids avant</a:t>
            </a:r>
            <a:endParaRPr lang="en-US" sz="1300" dirty="0"/>
          </a:p>
        </p:txBody>
      </p:sp>
      <p:sp>
        <p:nvSpPr>
          <p:cNvPr id="5" name="Text 3"/>
          <p:cNvSpPr/>
          <p:nvPr/>
        </p:nvSpPr>
        <p:spPr>
          <a:xfrm>
            <a:off x="2489200" y="1899921"/>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(0,1 ; 0,1 ; 0,1)</a:t>
            </a:r>
            <a:endParaRPr lang="en-US" sz="1400" dirty="0"/>
          </a:p>
        </p:txBody>
      </p:sp>
      <p:sp>
        <p:nvSpPr>
          <p:cNvPr id="6" name="Text 4"/>
          <p:cNvSpPr/>
          <p:nvPr/>
        </p:nvSpPr>
        <p:spPr>
          <a:xfrm>
            <a:off x="812800" y="22529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Sommation</a:t>
            </a:r>
            <a:endParaRPr lang="en-US" sz="1300" dirty="0"/>
          </a:p>
        </p:txBody>
      </p:sp>
      <p:sp>
        <p:nvSpPr>
          <p:cNvPr id="7" name="Text 5"/>
          <p:cNvSpPr/>
          <p:nvPr/>
        </p:nvSpPr>
        <p:spPr>
          <a:xfrm>
            <a:off x="2489200" y="2237742"/>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 = 0,08 + 0,16 + 0,1 = </a:t>
            </a:r>
            <a:r>
              <a:rPr lang="en-US" sz="1400" b="1" dirty="0">
                <a:solidFill>
                  <a:srgbClr val="14213D"/>
                </a:solidFill>
                <a:latin typeface="JetBrains Mono" pitchFamily="49" charset="0"/>
                <a:ea typeface="JetBrains Mono" pitchFamily="49" charset="-122"/>
                <a:cs typeface="JetBrains Mono" pitchFamily="49" charset="-120"/>
              </a:rPr>
              <a:t>0,34</a:t>
            </a:r>
            <a:endParaRPr lang="en-US" sz="1400" dirty="0"/>
          </a:p>
        </p:txBody>
      </p:sp>
      <p:sp>
        <p:nvSpPr>
          <p:cNvPr id="8" name="Text 6"/>
          <p:cNvSpPr/>
          <p:nvPr/>
        </p:nvSpPr>
        <p:spPr>
          <a:xfrm>
            <a:off x="812800" y="25908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Activation</a:t>
            </a:r>
            <a:endParaRPr lang="en-US" sz="1300" dirty="0"/>
          </a:p>
        </p:txBody>
      </p:sp>
      <p:sp>
        <p:nvSpPr>
          <p:cNvPr id="9" name="Text 7"/>
          <p:cNvSpPr/>
          <p:nvPr/>
        </p:nvSpPr>
        <p:spPr>
          <a:xfrm>
            <a:off x="2489200" y="2575564"/>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 &gt; 0 ⇒ ŷ = </a:t>
            </a:r>
            <a:r>
              <a:rPr lang="en-US" sz="1400" b="1" dirty="0">
                <a:solidFill>
                  <a:srgbClr val="14213D"/>
                </a:solidFill>
                <a:latin typeface="JetBrains Mono" pitchFamily="49" charset="0"/>
                <a:ea typeface="JetBrains Mono" pitchFamily="49" charset="-122"/>
                <a:cs typeface="JetBrains Mono" pitchFamily="49" charset="-120"/>
              </a:rPr>
              <a:t>1</a:t>
            </a:r>
            <a:endParaRPr lang="en-US" sz="1400" dirty="0"/>
          </a:p>
        </p:txBody>
      </p:sp>
      <p:sp>
        <p:nvSpPr>
          <p:cNvPr id="10" name="Text 8"/>
          <p:cNvSpPr/>
          <p:nvPr/>
        </p:nvSpPr>
        <p:spPr>
          <a:xfrm>
            <a:off x="812800" y="2928621"/>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Comparaison</a:t>
            </a:r>
            <a:endParaRPr lang="en-US" sz="1300" dirty="0"/>
          </a:p>
        </p:txBody>
      </p:sp>
      <p:sp>
        <p:nvSpPr>
          <p:cNvPr id="11" name="Text 9"/>
          <p:cNvSpPr/>
          <p:nvPr/>
        </p:nvSpPr>
        <p:spPr>
          <a:xfrm>
            <a:off x="2489200" y="2913379"/>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541C"/>
                </a:solidFill>
                <a:latin typeface="JetBrains Mono" pitchFamily="49" charset="0"/>
                <a:ea typeface="JetBrains Mono" pitchFamily="49" charset="-122"/>
                <a:cs typeface="JetBrains Mono" pitchFamily="49" charset="-120"/>
              </a:rPr>
              <a:t>ŷ = 1 ≠ t = 0 → erreur</a:t>
            </a:r>
            <a:endParaRPr lang="en-US" sz="1400" dirty="0"/>
          </a:p>
        </p:txBody>
      </p:sp>
      <p:sp>
        <p:nvSpPr>
          <p:cNvPr id="12" name="Text 10"/>
          <p:cNvSpPr/>
          <p:nvPr/>
        </p:nvSpPr>
        <p:spPr>
          <a:xfrm>
            <a:off x="812800" y="3266442"/>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Correction</a:t>
            </a:r>
            <a:endParaRPr lang="en-US" sz="1300" dirty="0"/>
          </a:p>
        </p:txBody>
      </p:sp>
      <p:sp>
        <p:nvSpPr>
          <p:cNvPr id="13" name="Text 11"/>
          <p:cNvSpPr/>
          <p:nvPr/>
        </p:nvSpPr>
        <p:spPr>
          <a:xfrm>
            <a:off x="2489200" y="3251200"/>
            <a:ext cx="49184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Δw = 0,1 × (0 − 1) × (0,8 ; 1,6 ; 1)</a:t>
            </a:r>
            <a:endParaRPr lang="en-US" sz="1400" dirty="0"/>
          </a:p>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 (−0,08 ; −0,16 ; −0,1)</a:t>
            </a:r>
            <a:endParaRPr lang="en-US" sz="1400" dirty="0"/>
          </a:p>
        </p:txBody>
      </p:sp>
      <p:sp>
        <p:nvSpPr>
          <p:cNvPr id="14" name="Text 12"/>
          <p:cNvSpPr/>
          <p:nvPr/>
        </p:nvSpPr>
        <p:spPr>
          <a:xfrm>
            <a:off x="812800" y="38531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Nouveaux poids</a:t>
            </a:r>
            <a:endParaRPr lang="en-US" sz="1300" dirty="0"/>
          </a:p>
        </p:txBody>
      </p:sp>
      <p:sp>
        <p:nvSpPr>
          <p:cNvPr id="15" name="Text 13"/>
          <p:cNvSpPr/>
          <p:nvPr/>
        </p:nvSpPr>
        <p:spPr>
          <a:xfrm>
            <a:off x="2489200" y="3837942"/>
            <a:ext cx="491845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JetBrains Mono" pitchFamily="49" charset="0"/>
                <a:ea typeface="JetBrains Mono" pitchFamily="49" charset="-122"/>
                <a:cs typeface="JetBrains Mono" pitchFamily="49" charset="-120"/>
              </a:rPr>
              <a:t>(0,02 ; −0,06 ; 0)</a:t>
            </a:r>
            <a:endParaRPr lang="en-US" sz="1400" dirty="0"/>
          </a:p>
        </p:txBody>
      </p:sp>
      <p:sp>
        <p:nvSpPr>
          <p:cNvPr id="16" name="Text 14"/>
          <p:cNvSpPr/>
          <p:nvPr/>
        </p:nvSpPr>
        <p:spPr>
          <a:xfrm>
            <a:off x="812800" y="41910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Droite (y = 0)</a:t>
            </a:r>
            <a:endParaRPr lang="en-US" sz="1300" dirty="0"/>
          </a:p>
        </p:txBody>
      </p:sp>
      <p:sp>
        <p:nvSpPr>
          <p:cNvPr id="17" name="Text 15"/>
          <p:cNvSpPr/>
          <p:nvPr/>
        </p:nvSpPr>
        <p:spPr>
          <a:xfrm>
            <a:off x="2489200" y="4175764"/>
            <a:ext cx="491845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JetBrains Mono" pitchFamily="49" charset="0"/>
                <a:ea typeface="JetBrains Mono" pitchFamily="49" charset="-122"/>
                <a:cs typeface="JetBrains Mono" pitchFamily="49" charset="-120"/>
              </a:rPr>
              <a:t>x₂ = x₁ / 3</a:t>
            </a:r>
            <a:endParaRPr lang="en-US" sz="1400" dirty="0"/>
          </a:p>
        </p:txBody>
      </p:sp>
      <p:sp>
        <p:nvSpPr>
          <p:cNvPr id="18" name="Shape 16"/>
          <p:cNvSpPr/>
          <p:nvPr/>
        </p:nvSpPr>
        <p:spPr>
          <a:xfrm>
            <a:off x="812800" y="5207000"/>
            <a:ext cx="6451600" cy="502920"/>
          </a:xfrm>
          <a:prstGeom prst="roundRect">
            <a:avLst>
              <a:gd name="adj" fmla="val 20202"/>
            </a:avLst>
          </a:prstGeom>
          <a:solidFill>
            <a:srgbClr val="14213D"/>
          </a:solidFill>
          <a:ln/>
        </p:spPr>
      </p:sp>
      <p:sp>
        <p:nvSpPr>
          <p:cNvPr id="19" name="Text 17"/>
          <p:cNvSpPr/>
          <p:nvPr/>
        </p:nvSpPr>
        <p:spPr>
          <a:xfrm>
            <a:off x="1016000" y="5334000"/>
            <a:ext cx="295446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Erreur</a:t>
            </a:r>
            <a:r>
              <a:rPr lang="en-US" sz="1400" dirty="0">
                <a:solidFill>
                  <a:srgbClr val="F6F4EE"/>
                </a:solidFill>
                <a:latin typeface="IBM Plex Sans" pitchFamily="34" charset="0"/>
                <a:ea typeface="IBM Plex Sans" pitchFamily="34" charset="-122"/>
                <a:cs typeface="IBM Plex Sans" pitchFamily="34" charset="-120"/>
              </a:rPr>
              <a:t> → mise à jour des poids</a:t>
            </a:r>
            <a:endParaRPr lang="en-US" sz="1400" dirty="0"/>
          </a:p>
        </p:txBody>
      </p:sp>
      <p:sp>
        <p:nvSpPr>
          <p:cNvPr id="20" name="Text 18"/>
          <p:cNvSpPr/>
          <p:nvPr/>
        </p:nvSpPr>
        <p:spPr>
          <a:xfrm>
            <a:off x="4726908" y="5334000"/>
            <a:ext cx="2334292"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09A5B"/>
                </a:solidFill>
                <a:latin typeface="IBM Plex Sans" pitchFamily="34" charset="0"/>
                <a:ea typeface="IBM Plex Sans" pitchFamily="34" charset="-122"/>
                <a:cs typeface="IBM Plex Sans" pitchFamily="34" charset="-120"/>
              </a:rPr>
              <a:t>Erreurs restantes : 2 / 4</a:t>
            </a:r>
            <a:endParaRPr lang="en-US" sz="1400" dirty="0"/>
          </a:p>
        </p:txBody>
      </p:sp>
      <p:sp>
        <p:nvSpPr>
          <p:cNvPr id="21" name="Shape 19"/>
          <p:cNvSpPr/>
          <p:nvPr/>
        </p:nvSpPr>
        <p:spPr>
          <a:xfrm>
            <a:off x="7569200" y="1899921"/>
            <a:ext cx="3810000" cy="3810000"/>
          </a:xfrm>
          <a:prstGeom prst="roundRect">
            <a:avLst>
              <a:gd name="adj" fmla="val 2667"/>
            </a:avLst>
          </a:prstGeom>
          <a:solidFill>
            <a:srgbClr val="FFFFFF"/>
          </a:solidFill>
          <a:ln/>
        </p:spPr>
      </p:sp>
      <p:pic>
        <p:nvPicPr>
          <p:cNvPr id="22" name="Image 0" descr="Itération 2 : la droite x2 = x1/3 laisse les quatre données du côté prédit 0, donc E1 et E3 sont maintenant mal classées">    </p:cNvPr>
          <p:cNvPicPr>
            <a:picLocks noChangeAspect="1"/>
          </p:cNvPicPr>
          <p:nvPr/>
        </p:nvPicPr>
        <p:blipFill>
          <a:blip r:embed="rId1"/>
          <a:srcRect l="0" r="0" t="0" b="0"/>
          <a:stretch/>
        </p:blipFill>
        <p:spPr>
          <a:xfrm>
            <a:off x="7569200" y="1899921"/>
            <a:ext cx="3810000" cy="3810000"/>
          </a:xfrm>
          <a:prstGeom prst="roundRect">
            <a:avLst>
              <a:gd name="adj" fmla="val 2667"/>
            </a:avLst>
          </a:prstGeom>
        </p:spPr>
      </p:pic>
      <p:sp>
        <p:nvSpPr>
          <p:cNvPr id="23" name="Text 20"/>
          <p:cNvSpPr/>
          <p:nvPr/>
        </p:nvSpPr>
        <p:spPr>
          <a:xfrm>
            <a:off x="10871200" y="4554221"/>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x₁</a:t>
            </a:r>
            <a:endParaRPr lang="en-US" sz="1200" dirty="0"/>
          </a:p>
        </p:txBody>
      </p:sp>
      <p:sp>
        <p:nvSpPr>
          <p:cNvPr id="24" name="Text 21"/>
          <p:cNvSpPr/>
          <p:nvPr/>
        </p:nvSpPr>
        <p:spPr>
          <a:xfrm>
            <a:off x="8826500" y="2153921"/>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x₂</a:t>
            </a:r>
            <a:endParaRPr lang="en-US" sz="1200" dirty="0"/>
          </a:p>
        </p:txBody>
      </p:sp>
      <p:sp>
        <p:nvSpPr>
          <p:cNvPr id="25" name="Text 22"/>
          <p:cNvSpPr/>
          <p:nvPr/>
        </p:nvSpPr>
        <p:spPr>
          <a:xfrm>
            <a:off x="8585200" y="45415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a:t>
            </a:r>
            <a:endParaRPr lang="en-US" sz="1200" dirty="0"/>
          </a:p>
        </p:txBody>
      </p:sp>
      <p:sp>
        <p:nvSpPr>
          <p:cNvPr id="26" name="Text 23"/>
          <p:cNvSpPr/>
          <p:nvPr/>
        </p:nvSpPr>
        <p:spPr>
          <a:xfrm>
            <a:off x="9664700" y="45669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27" name="Text 24"/>
          <p:cNvSpPr/>
          <p:nvPr/>
        </p:nvSpPr>
        <p:spPr>
          <a:xfrm>
            <a:off x="10604500" y="45669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28" name="Text 25"/>
          <p:cNvSpPr/>
          <p:nvPr/>
        </p:nvSpPr>
        <p:spPr>
          <a:xfrm>
            <a:off x="8585200" y="34493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29" name="Text 26"/>
          <p:cNvSpPr/>
          <p:nvPr/>
        </p:nvSpPr>
        <p:spPr>
          <a:xfrm>
            <a:off x="8585200" y="25095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30" name="Text 27"/>
          <p:cNvSpPr/>
          <p:nvPr/>
        </p:nvSpPr>
        <p:spPr>
          <a:xfrm>
            <a:off x="9804400" y="36144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E1</a:t>
            </a:r>
            <a:endParaRPr lang="en-US" sz="1200" dirty="0"/>
          </a:p>
        </p:txBody>
      </p:sp>
      <p:sp>
        <p:nvSpPr>
          <p:cNvPr id="31" name="Text 28"/>
          <p:cNvSpPr/>
          <p:nvPr/>
        </p:nvSpPr>
        <p:spPr>
          <a:xfrm>
            <a:off x="9728200" y="27000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E2</a:t>
            </a:r>
            <a:endParaRPr lang="en-US" sz="1200" dirty="0"/>
          </a:p>
        </p:txBody>
      </p:sp>
      <p:sp>
        <p:nvSpPr>
          <p:cNvPr id="32" name="Text 29"/>
          <p:cNvSpPr/>
          <p:nvPr/>
        </p:nvSpPr>
        <p:spPr>
          <a:xfrm>
            <a:off x="10744200" y="36144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E3</a:t>
            </a:r>
            <a:endParaRPr lang="en-US" sz="1200" dirty="0"/>
          </a:p>
        </p:txBody>
      </p:sp>
      <p:sp>
        <p:nvSpPr>
          <p:cNvPr id="33" name="Text 30"/>
          <p:cNvSpPr/>
          <p:nvPr/>
        </p:nvSpPr>
        <p:spPr>
          <a:xfrm>
            <a:off x="8788400" y="2915921"/>
            <a:ext cx="3556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E4</a:t>
            </a:r>
            <a:endParaRPr lang="en-US" sz="1200" dirty="0"/>
          </a:p>
        </p:txBody>
      </p:sp>
      <p:sp>
        <p:nvSpPr>
          <p:cNvPr id="34" name="Text 31"/>
          <p:cNvSpPr/>
          <p:nvPr/>
        </p:nvSpPr>
        <p:spPr>
          <a:xfrm>
            <a:off x="812800" y="6238242"/>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11</a:t>
            </a:r>
            <a:endParaRPr lang="en-US" sz="1200" dirty="0"/>
          </a:p>
        </p:txBody>
      </p:sp>
      <p:sp>
        <p:nvSpPr>
          <p:cNvPr id="35" name="Text 32"/>
          <p:cNvSpPr/>
          <p:nvPr/>
        </p:nvSpPr>
        <p:spPr>
          <a:xfrm>
            <a:off x="4838700" y="6238242"/>
            <a:ext cx="65405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classe 1 · ● classe 0 · zone orangée : ŷ = 1 · tirets : droite précédente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E6D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EXEMPLE · ÉPOQUE 1</a:t>
            </a:r>
            <a:endParaRPr lang="en-US" sz="1200" dirty="0"/>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Itération 3 · E3 = (2 ; 1), classe 1</a:t>
            </a:r>
            <a:endParaRPr lang="en-US" sz="3200" dirty="0"/>
          </a:p>
        </p:txBody>
      </p:sp>
      <p:sp>
        <p:nvSpPr>
          <p:cNvPr id="4" name="Text 2"/>
          <p:cNvSpPr/>
          <p:nvPr/>
        </p:nvSpPr>
        <p:spPr>
          <a:xfrm>
            <a:off x="812800" y="1915164"/>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Poids avant</a:t>
            </a:r>
            <a:endParaRPr lang="en-US" sz="1300" dirty="0"/>
          </a:p>
        </p:txBody>
      </p:sp>
      <p:sp>
        <p:nvSpPr>
          <p:cNvPr id="5" name="Text 3"/>
          <p:cNvSpPr/>
          <p:nvPr/>
        </p:nvSpPr>
        <p:spPr>
          <a:xfrm>
            <a:off x="2489200" y="1899921"/>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(0,02 ; −0,06 ; 0)</a:t>
            </a:r>
            <a:endParaRPr lang="en-US" sz="1400" dirty="0"/>
          </a:p>
        </p:txBody>
      </p:sp>
      <p:sp>
        <p:nvSpPr>
          <p:cNvPr id="6" name="Text 4"/>
          <p:cNvSpPr/>
          <p:nvPr/>
        </p:nvSpPr>
        <p:spPr>
          <a:xfrm>
            <a:off x="812800" y="22529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Sommation</a:t>
            </a:r>
            <a:endParaRPr lang="en-US" sz="1300" dirty="0"/>
          </a:p>
        </p:txBody>
      </p:sp>
      <p:sp>
        <p:nvSpPr>
          <p:cNvPr id="7" name="Text 5"/>
          <p:cNvSpPr/>
          <p:nvPr/>
        </p:nvSpPr>
        <p:spPr>
          <a:xfrm>
            <a:off x="2489200" y="2237742"/>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 = 0,04 − 0,06 + 0 = </a:t>
            </a:r>
            <a:r>
              <a:rPr lang="en-US" sz="1400" b="1" dirty="0">
                <a:solidFill>
                  <a:srgbClr val="14213D"/>
                </a:solidFill>
                <a:latin typeface="JetBrains Mono" pitchFamily="49" charset="0"/>
                <a:ea typeface="JetBrains Mono" pitchFamily="49" charset="-122"/>
                <a:cs typeface="JetBrains Mono" pitchFamily="49" charset="-120"/>
              </a:rPr>
              <a:t>−0,02</a:t>
            </a:r>
            <a:endParaRPr lang="en-US" sz="1400" dirty="0"/>
          </a:p>
        </p:txBody>
      </p:sp>
      <p:sp>
        <p:nvSpPr>
          <p:cNvPr id="8" name="Text 6"/>
          <p:cNvSpPr/>
          <p:nvPr/>
        </p:nvSpPr>
        <p:spPr>
          <a:xfrm>
            <a:off x="812800" y="25908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Activation</a:t>
            </a:r>
            <a:endParaRPr lang="en-US" sz="1300" dirty="0"/>
          </a:p>
        </p:txBody>
      </p:sp>
      <p:sp>
        <p:nvSpPr>
          <p:cNvPr id="9" name="Text 7"/>
          <p:cNvSpPr/>
          <p:nvPr/>
        </p:nvSpPr>
        <p:spPr>
          <a:xfrm>
            <a:off x="2489200" y="2575564"/>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 ≤ 0 ⇒ ŷ = </a:t>
            </a:r>
            <a:r>
              <a:rPr lang="en-US" sz="1400" b="1" dirty="0">
                <a:solidFill>
                  <a:srgbClr val="14213D"/>
                </a:solidFill>
                <a:latin typeface="JetBrains Mono" pitchFamily="49" charset="0"/>
                <a:ea typeface="JetBrains Mono" pitchFamily="49" charset="-122"/>
                <a:cs typeface="JetBrains Mono" pitchFamily="49" charset="-120"/>
              </a:rPr>
              <a:t>0</a:t>
            </a:r>
            <a:endParaRPr lang="en-US" sz="1400" dirty="0"/>
          </a:p>
        </p:txBody>
      </p:sp>
      <p:sp>
        <p:nvSpPr>
          <p:cNvPr id="10" name="Text 8"/>
          <p:cNvSpPr/>
          <p:nvPr/>
        </p:nvSpPr>
        <p:spPr>
          <a:xfrm>
            <a:off x="812800" y="2928621"/>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Comparaison</a:t>
            </a:r>
            <a:endParaRPr lang="en-US" sz="1300" dirty="0"/>
          </a:p>
        </p:txBody>
      </p:sp>
      <p:sp>
        <p:nvSpPr>
          <p:cNvPr id="11" name="Text 9"/>
          <p:cNvSpPr/>
          <p:nvPr/>
        </p:nvSpPr>
        <p:spPr>
          <a:xfrm>
            <a:off x="2489200" y="2913379"/>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541C"/>
                </a:solidFill>
                <a:latin typeface="JetBrains Mono" pitchFamily="49" charset="0"/>
                <a:ea typeface="JetBrains Mono" pitchFamily="49" charset="-122"/>
                <a:cs typeface="JetBrains Mono" pitchFamily="49" charset="-120"/>
              </a:rPr>
              <a:t>ŷ = 0 ≠ t = 1 → erreur</a:t>
            </a:r>
            <a:endParaRPr lang="en-US" sz="1400" dirty="0"/>
          </a:p>
        </p:txBody>
      </p:sp>
      <p:sp>
        <p:nvSpPr>
          <p:cNvPr id="12" name="Text 10"/>
          <p:cNvSpPr/>
          <p:nvPr/>
        </p:nvSpPr>
        <p:spPr>
          <a:xfrm>
            <a:off x="812800" y="3266442"/>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Correction</a:t>
            </a:r>
            <a:endParaRPr lang="en-US" sz="1300" dirty="0"/>
          </a:p>
        </p:txBody>
      </p:sp>
      <p:sp>
        <p:nvSpPr>
          <p:cNvPr id="13" name="Text 11"/>
          <p:cNvSpPr/>
          <p:nvPr/>
        </p:nvSpPr>
        <p:spPr>
          <a:xfrm>
            <a:off x="2489200" y="3251200"/>
            <a:ext cx="49184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Δw = 0,1 × (1 − 0) × (2 ; 1 ; 1)</a:t>
            </a:r>
            <a:endParaRPr lang="en-US" sz="1400" dirty="0"/>
          </a:p>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 (0,2 ; 0,1 ; 0,1)</a:t>
            </a:r>
            <a:endParaRPr lang="en-US" sz="1400" dirty="0"/>
          </a:p>
        </p:txBody>
      </p:sp>
      <p:sp>
        <p:nvSpPr>
          <p:cNvPr id="14" name="Text 12"/>
          <p:cNvSpPr/>
          <p:nvPr/>
        </p:nvSpPr>
        <p:spPr>
          <a:xfrm>
            <a:off x="812800" y="38531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Nouveaux poids</a:t>
            </a:r>
            <a:endParaRPr lang="en-US" sz="1300" dirty="0"/>
          </a:p>
        </p:txBody>
      </p:sp>
      <p:sp>
        <p:nvSpPr>
          <p:cNvPr id="15" name="Text 13"/>
          <p:cNvSpPr/>
          <p:nvPr/>
        </p:nvSpPr>
        <p:spPr>
          <a:xfrm>
            <a:off x="2489200" y="3837942"/>
            <a:ext cx="491845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JetBrains Mono" pitchFamily="49" charset="0"/>
                <a:ea typeface="JetBrains Mono" pitchFamily="49" charset="-122"/>
                <a:cs typeface="JetBrains Mono" pitchFamily="49" charset="-120"/>
              </a:rPr>
              <a:t>(0,22 ; 0,04 ; 0,1)</a:t>
            </a:r>
            <a:endParaRPr lang="en-US" sz="1400" dirty="0"/>
          </a:p>
        </p:txBody>
      </p:sp>
      <p:sp>
        <p:nvSpPr>
          <p:cNvPr id="16" name="Text 14"/>
          <p:cNvSpPr/>
          <p:nvPr/>
        </p:nvSpPr>
        <p:spPr>
          <a:xfrm>
            <a:off x="812800" y="41910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Droite (y = 0)</a:t>
            </a:r>
            <a:endParaRPr lang="en-US" sz="1300" dirty="0"/>
          </a:p>
        </p:txBody>
      </p:sp>
      <p:sp>
        <p:nvSpPr>
          <p:cNvPr id="17" name="Text 15"/>
          <p:cNvSpPr/>
          <p:nvPr/>
        </p:nvSpPr>
        <p:spPr>
          <a:xfrm>
            <a:off x="2489200" y="4175764"/>
            <a:ext cx="491845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JetBrains Mono" pitchFamily="49" charset="0"/>
                <a:ea typeface="JetBrains Mono" pitchFamily="49" charset="-122"/>
                <a:cs typeface="JetBrains Mono" pitchFamily="49" charset="-120"/>
              </a:rPr>
              <a:t>x₂ = −5,5·x₁ − 2,5</a:t>
            </a:r>
            <a:endParaRPr lang="en-US" sz="1400" dirty="0"/>
          </a:p>
        </p:txBody>
      </p:sp>
      <p:sp>
        <p:nvSpPr>
          <p:cNvPr id="18" name="Shape 16"/>
          <p:cNvSpPr/>
          <p:nvPr/>
        </p:nvSpPr>
        <p:spPr>
          <a:xfrm>
            <a:off x="812800" y="5207000"/>
            <a:ext cx="6451600" cy="502920"/>
          </a:xfrm>
          <a:prstGeom prst="roundRect">
            <a:avLst>
              <a:gd name="adj" fmla="val 20202"/>
            </a:avLst>
          </a:prstGeom>
          <a:solidFill>
            <a:srgbClr val="14213D"/>
          </a:solidFill>
          <a:ln/>
        </p:spPr>
      </p:sp>
      <p:sp>
        <p:nvSpPr>
          <p:cNvPr id="19" name="Text 17"/>
          <p:cNvSpPr/>
          <p:nvPr/>
        </p:nvSpPr>
        <p:spPr>
          <a:xfrm>
            <a:off x="1016000" y="5334000"/>
            <a:ext cx="295446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4EE"/>
                </a:solidFill>
                <a:latin typeface="IBM Plex Sans" pitchFamily="34" charset="0"/>
                <a:ea typeface="IBM Plex Sans" pitchFamily="34" charset="-122"/>
                <a:cs typeface="IBM Plex Sans" pitchFamily="34" charset="-120"/>
              </a:rPr>
              <a:t>Erreur</a:t>
            </a:r>
            <a:r>
              <a:rPr lang="en-US" sz="1400" dirty="0">
                <a:solidFill>
                  <a:srgbClr val="F6F4EE"/>
                </a:solidFill>
                <a:latin typeface="IBM Plex Sans" pitchFamily="34" charset="0"/>
                <a:ea typeface="IBM Plex Sans" pitchFamily="34" charset="-122"/>
                <a:cs typeface="IBM Plex Sans" pitchFamily="34" charset="-120"/>
              </a:rPr>
              <a:t> → mise à jour des poids</a:t>
            </a:r>
            <a:endParaRPr lang="en-US" sz="1400" dirty="0"/>
          </a:p>
        </p:txBody>
      </p:sp>
      <p:sp>
        <p:nvSpPr>
          <p:cNvPr id="20" name="Text 18"/>
          <p:cNvSpPr/>
          <p:nvPr/>
        </p:nvSpPr>
        <p:spPr>
          <a:xfrm>
            <a:off x="4726908" y="5334000"/>
            <a:ext cx="2334292"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09A5B"/>
                </a:solidFill>
                <a:latin typeface="IBM Plex Sans" pitchFamily="34" charset="0"/>
                <a:ea typeface="IBM Plex Sans" pitchFamily="34" charset="-122"/>
                <a:cs typeface="IBM Plex Sans" pitchFamily="34" charset="-120"/>
              </a:rPr>
              <a:t>Erreurs restantes : 2 / 4</a:t>
            </a:r>
            <a:endParaRPr lang="en-US" sz="1400" dirty="0"/>
          </a:p>
        </p:txBody>
      </p:sp>
      <p:sp>
        <p:nvSpPr>
          <p:cNvPr id="21" name="Shape 19"/>
          <p:cNvSpPr/>
          <p:nvPr/>
        </p:nvSpPr>
        <p:spPr>
          <a:xfrm>
            <a:off x="7569200" y="1899921"/>
            <a:ext cx="3810000" cy="3810000"/>
          </a:xfrm>
          <a:prstGeom prst="roundRect">
            <a:avLst>
              <a:gd name="adj" fmla="val 2667"/>
            </a:avLst>
          </a:prstGeom>
          <a:solidFill>
            <a:srgbClr val="FFFFFF"/>
          </a:solidFill>
          <a:ln/>
        </p:spPr>
      </p:sp>
      <p:pic>
        <p:nvPicPr>
          <p:cNvPr id="22" name="Image 0" descr="Itération 3 : la droite x2 = −5,5 x1 − 2,5 passe tout à gauche ; les quatre données sont du côté prédit 1, donc E2 et E4 sont de nouveau mal classées">    </p:cNvPr>
          <p:cNvPicPr>
            <a:picLocks noChangeAspect="1"/>
          </p:cNvPicPr>
          <p:nvPr/>
        </p:nvPicPr>
        <p:blipFill>
          <a:blip r:embed="rId1"/>
          <a:srcRect l="0" r="0" t="0" b="0"/>
          <a:stretch/>
        </p:blipFill>
        <p:spPr>
          <a:xfrm>
            <a:off x="7569200" y="1899921"/>
            <a:ext cx="3810000" cy="3810000"/>
          </a:xfrm>
          <a:prstGeom prst="roundRect">
            <a:avLst>
              <a:gd name="adj" fmla="val 2667"/>
            </a:avLst>
          </a:prstGeom>
        </p:spPr>
      </p:pic>
      <p:sp>
        <p:nvSpPr>
          <p:cNvPr id="23" name="Text 20"/>
          <p:cNvSpPr/>
          <p:nvPr/>
        </p:nvSpPr>
        <p:spPr>
          <a:xfrm>
            <a:off x="10871200" y="4554221"/>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x₁</a:t>
            </a:r>
            <a:endParaRPr lang="en-US" sz="1200" dirty="0"/>
          </a:p>
        </p:txBody>
      </p:sp>
      <p:sp>
        <p:nvSpPr>
          <p:cNvPr id="24" name="Text 21"/>
          <p:cNvSpPr/>
          <p:nvPr/>
        </p:nvSpPr>
        <p:spPr>
          <a:xfrm>
            <a:off x="8826500" y="2153921"/>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x₂</a:t>
            </a:r>
            <a:endParaRPr lang="en-US" sz="1200" dirty="0"/>
          </a:p>
        </p:txBody>
      </p:sp>
      <p:sp>
        <p:nvSpPr>
          <p:cNvPr id="25" name="Text 22"/>
          <p:cNvSpPr/>
          <p:nvPr/>
        </p:nvSpPr>
        <p:spPr>
          <a:xfrm>
            <a:off x="8585200" y="45415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a:t>
            </a:r>
            <a:endParaRPr lang="en-US" sz="1200" dirty="0"/>
          </a:p>
        </p:txBody>
      </p:sp>
      <p:sp>
        <p:nvSpPr>
          <p:cNvPr id="26" name="Text 23"/>
          <p:cNvSpPr/>
          <p:nvPr/>
        </p:nvSpPr>
        <p:spPr>
          <a:xfrm>
            <a:off x="9664700" y="45669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27" name="Text 24"/>
          <p:cNvSpPr/>
          <p:nvPr/>
        </p:nvSpPr>
        <p:spPr>
          <a:xfrm>
            <a:off x="10604500" y="45669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28" name="Text 25"/>
          <p:cNvSpPr/>
          <p:nvPr/>
        </p:nvSpPr>
        <p:spPr>
          <a:xfrm>
            <a:off x="8585200" y="34493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29" name="Text 26"/>
          <p:cNvSpPr/>
          <p:nvPr/>
        </p:nvSpPr>
        <p:spPr>
          <a:xfrm>
            <a:off x="8585200" y="25095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30" name="Text 27"/>
          <p:cNvSpPr/>
          <p:nvPr/>
        </p:nvSpPr>
        <p:spPr>
          <a:xfrm>
            <a:off x="9804400" y="36144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E1</a:t>
            </a:r>
            <a:endParaRPr lang="en-US" sz="1200" dirty="0"/>
          </a:p>
        </p:txBody>
      </p:sp>
      <p:sp>
        <p:nvSpPr>
          <p:cNvPr id="31" name="Text 28"/>
          <p:cNvSpPr/>
          <p:nvPr/>
        </p:nvSpPr>
        <p:spPr>
          <a:xfrm>
            <a:off x="9626600" y="27889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E2</a:t>
            </a:r>
            <a:endParaRPr lang="en-US" sz="1200" dirty="0"/>
          </a:p>
        </p:txBody>
      </p:sp>
      <p:sp>
        <p:nvSpPr>
          <p:cNvPr id="32" name="Text 29"/>
          <p:cNvSpPr/>
          <p:nvPr/>
        </p:nvSpPr>
        <p:spPr>
          <a:xfrm>
            <a:off x="10858500" y="36906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E3</a:t>
            </a:r>
            <a:endParaRPr lang="en-US" sz="1200" dirty="0"/>
          </a:p>
        </p:txBody>
      </p:sp>
      <p:sp>
        <p:nvSpPr>
          <p:cNvPr id="33" name="Text 30"/>
          <p:cNvSpPr/>
          <p:nvPr/>
        </p:nvSpPr>
        <p:spPr>
          <a:xfrm>
            <a:off x="8788400" y="2915921"/>
            <a:ext cx="3556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E4</a:t>
            </a:r>
            <a:endParaRPr lang="en-US" sz="1200" dirty="0"/>
          </a:p>
        </p:txBody>
      </p:sp>
      <p:sp>
        <p:nvSpPr>
          <p:cNvPr id="34" name="Text 31"/>
          <p:cNvSpPr/>
          <p:nvPr/>
        </p:nvSpPr>
        <p:spPr>
          <a:xfrm>
            <a:off x="812800" y="6238242"/>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12</a:t>
            </a:r>
            <a:endParaRPr lang="en-US" sz="1200" dirty="0"/>
          </a:p>
        </p:txBody>
      </p:sp>
      <p:sp>
        <p:nvSpPr>
          <p:cNvPr id="35" name="Text 32"/>
          <p:cNvSpPr/>
          <p:nvPr/>
        </p:nvSpPr>
        <p:spPr>
          <a:xfrm>
            <a:off x="4838700" y="6238242"/>
            <a:ext cx="65405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classe 1 · ● classe 0 · zone orangée : ŷ = 1 · tirets : droite précédente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AE6D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EXEMPLE · ÉPOQUE 1</a:t>
            </a:r>
            <a:endParaRPr lang="en-US" sz="1200" dirty="0"/>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Itération 4 · E4 = (0,5 ; 1,5), classe 0</a:t>
            </a:r>
            <a:endParaRPr lang="en-US" sz="3200" dirty="0"/>
          </a:p>
        </p:txBody>
      </p:sp>
      <p:sp>
        <p:nvSpPr>
          <p:cNvPr id="4" name="Text 2"/>
          <p:cNvSpPr/>
          <p:nvPr/>
        </p:nvSpPr>
        <p:spPr>
          <a:xfrm>
            <a:off x="812800" y="1915164"/>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Poids avant</a:t>
            </a:r>
            <a:endParaRPr lang="en-US" sz="1300" dirty="0"/>
          </a:p>
        </p:txBody>
      </p:sp>
      <p:sp>
        <p:nvSpPr>
          <p:cNvPr id="5" name="Text 3"/>
          <p:cNvSpPr/>
          <p:nvPr/>
        </p:nvSpPr>
        <p:spPr>
          <a:xfrm>
            <a:off x="2489200" y="1899921"/>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(0,22 ; 0,04 ; 0,1)</a:t>
            </a:r>
            <a:endParaRPr lang="en-US" sz="1400" dirty="0"/>
          </a:p>
        </p:txBody>
      </p:sp>
      <p:sp>
        <p:nvSpPr>
          <p:cNvPr id="6" name="Text 4"/>
          <p:cNvSpPr/>
          <p:nvPr/>
        </p:nvSpPr>
        <p:spPr>
          <a:xfrm>
            <a:off x="812800" y="22529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Sommation</a:t>
            </a:r>
            <a:endParaRPr lang="en-US" sz="1300" dirty="0"/>
          </a:p>
        </p:txBody>
      </p:sp>
      <p:sp>
        <p:nvSpPr>
          <p:cNvPr id="7" name="Text 5"/>
          <p:cNvSpPr/>
          <p:nvPr/>
        </p:nvSpPr>
        <p:spPr>
          <a:xfrm>
            <a:off x="2489200" y="2237742"/>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 = 0,11 + 0,06 + 0,1 = </a:t>
            </a:r>
            <a:r>
              <a:rPr lang="en-US" sz="1400" b="1" dirty="0">
                <a:solidFill>
                  <a:srgbClr val="14213D"/>
                </a:solidFill>
                <a:latin typeface="JetBrains Mono" pitchFamily="49" charset="0"/>
                <a:ea typeface="JetBrains Mono" pitchFamily="49" charset="-122"/>
                <a:cs typeface="JetBrains Mono" pitchFamily="49" charset="-120"/>
              </a:rPr>
              <a:t>0,27</a:t>
            </a:r>
            <a:endParaRPr lang="en-US" sz="1400" dirty="0"/>
          </a:p>
        </p:txBody>
      </p:sp>
      <p:sp>
        <p:nvSpPr>
          <p:cNvPr id="8" name="Text 6"/>
          <p:cNvSpPr/>
          <p:nvPr/>
        </p:nvSpPr>
        <p:spPr>
          <a:xfrm>
            <a:off x="812800" y="25908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Activation</a:t>
            </a:r>
            <a:endParaRPr lang="en-US" sz="1300" dirty="0"/>
          </a:p>
        </p:txBody>
      </p:sp>
      <p:sp>
        <p:nvSpPr>
          <p:cNvPr id="9" name="Text 7"/>
          <p:cNvSpPr/>
          <p:nvPr/>
        </p:nvSpPr>
        <p:spPr>
          <a:xfrm>
            <a:off x="2489200" y="2575564"/>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y &gt; 0 ⇒ ŷ = </a:t>
            </a:r>
            <a:r>
              <a:rPr lang="en-US" sz="1400" b="1" dirty="0">
                <a:solidFill>
                  <a:srgbClr val="14213D"/>
                </a:solidFill>
                <a:latin typeface="JetBrains Mono" pitchFamily="49" charset="0"/>
                <a:ea typeface="JetBrains Mono" pitchFamily="49" charset="-122"/>
                <a:cs typeface="JetBrains Mono" pitchFamily="49" charset="-120"/>
              </a:rPr>
              <a:t>1</a:t>
            </a:r>
            <a:endParaRPr lang="en-US" sz="1400" dirty="0"/>
          </a:p>
        </p:txBody>
      </p:sp>
      <p:sp>
        <p:nvSpPr>
          <p:cNvPr id="10" name="Text 8"/>
          <p:cNvSpPr/>
          <p:nvPr/>
        </p:nvSpPr>
        <p:spPr>
          <a:xfrm>
            <a:off x="812800" y="2928621"/>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Comparaison</a:t>
            </a:r>
            <a:endParaRPr lang="en-US" sz="1300" dirty="0"/>
          </a:p>
        </p:txBody>
      </p:sp>
      <p:sp>
        <p:nvSpPr>
          <p:cNvPr id="11" name="Text 9"/>
          <p:cNvSpPr/>
          <p:nvPr/>
        </p:nvSpPr>
        <p:spPr>
          <a:xfrm>
            <a:off x="2489200" y="2913379"/>
            <a:ext cx="491845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5541C"/>
                </a:solidFill>
                <a:latin typeface="JetBrains Mono" pitchFamily="49" charset="0"/>
                <a:ea typeface="JetBrains Mono" pitchFamily="49" charset="-122"/>
                <a:cs typeface="JetBrains Mono" pitchFamily="49" charset="-120"/>
              </a:rPr>
              <a:t>ŷ = 1 ≠ t = 0 → erreur</a:t>
            </a:r>
            <a:endParaRPr lang="en-US" sz="1400" dirty="0"/>
          </a:p>
        </p:txBody>
      </p:sp>
      <p:sp>
        <p:nvSpPr>
          <p:cNvPr id="12" name="Text 10"/>
          <p:cNvSpPr/>
          <p:nvPr/>
        </p:nvSpPr>
        <p:spPr>
          <a:xfrm>
            <a:off x="812800" y="3266442"/>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Correction</a:t>
            </a:r>
            <a:endParaRPr lang="en-US" sz="1300" dirty="0"/>
          </a:p>
        </p:txBody>
      </p:sp>
      <p:sp>
        <p:nvSpPr>
          <p:cNvPr id="13" name="Text 11"/>
          <p:cNvSpPr/>
          <p:nvPr/>
        </p:nvSpPr>
        <p:spPr>
          <a:xfrm>
            <a:off x="2489200" y="3251200"/>
            <a:ext cx="49184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Δw = 0,1 × (0 − 1) × (0,5 ; 1,5 ; 1)</a:t>
            </a:r>
            <a:endParaRPr lang="en-US" sz="1400" dirty="0"/>
          </a:p>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 (−0,05 ; −0,15 ; −0,1)</a:t>
            </a:r>
            <a:endParaRPr lang="en-US" sz="1400" dirty="0"/>
          </a:p>
        </p:txBody>
      </p:sp>
      <p:sp>
        <p:nvSpPr>
          <p:cNvPr id="14" name="Text 12"/>
          <p:cNvSpPr/>
          <p:nvPr/>
        </p:nvSpPr>
        <p:spPr>
          <a:xfrm>
            <a:off x="812800" y="3853179"/>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Nouveaux poids</a:t>
            </a:r>
            <a:endParaRPr lang="en-US" sz="1300" dirty="0"/>
          </a:p>
        </p:txBody>
      </p:sp>
      <p:sp>
        <p:nvSpPr>
          <p:cNvPr id="15" name="Text 13"/>
          <p:cNvSpPr/>
          <p:nvPr/>
        </p:nvSpPr>
        <p:spPr>
          <a:xfrm>
            <a:off x="2489200" y="3837942"/>
            <a:ext cx="491845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JetBrains Mono" pitchFamily="49" charset="0"/>
                <a:ea typeface="JetBrains Mono" pitchFamily="49" charset="-122"/>
                <a:cs typeface="JetBrains Mono" pitchFamily="49" charset="-120"/>
              </a:rPr>
              <a:t>(0,17 ; −0,11 ; 0)</a:t>
            </a:r>
            <a:endParaRPr lang="en-US" sz="1400" dirty="0"/>
          </a:p>
        </p:txBody>
      </p:sp>
      <p:sp>
        <p:nvSpPr>
          <p:cNvPr id="16" name="Text 14"/>
          <p:cNvSpPr/>
          <p:nvPr/>
        </p:nvSpPr>
        <p:spPr>
          <a:xfrm>
            <a:off x="812800" y="4191000"/>
            <a:ext cx="1574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Droite (y = 0)</a:t>
            </a:r>
            <a:endParaRPr lang="en-US" sz="1300" dirty="0"/>
          </a:p>
        </p:txBody>
      </p:sp>
      <p:sp>
        <p:nvSpPr>
          <p:cNvPr id="17" name="Text 15"/>
          <p:cNvSpPr/>
          <p:nvPr/>
        </p:nvSpPr>
        <p:spPr>
          <a:xfrm>
            <a:off x="2489200" y="4175764"/>
            <a:ext cx="491845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JetBrains Mono" pitchFamily="49" charset="0"/>
                <a:ea typeface="JetBrains Mono" pitchFamily="49" charset="-122"/>
                <a:cs typeface="JetBrains Mono" pitchFamily="49" charset="-120"/>
              </a:rPr>
              <a:t>x₂ = (17/11)·x₁ ≈ 1,55·x₁</a:t>
            </a:r>
            <a:endParaRPr lang="en-US" sz="1400" dirty="0"/>
          </a:p>
        </p:txBody>
      </p:sp>
      <p:sp>
        <p:nvSpPr>
          <p:cNvPr id="18" name="Shape 16"/>
          <p:cNvSpPr/>
          <p:nvPr/>
        </p:nvSpPr>
        <p:spPr>
          <a:xfrm>
            <a:off x="812800" y="5207000"/>
            <a:ext cx="6451600" cy="502920"/>
          </a:xfrm>
          <a:prstGeom prst="roundRect">
            <a:avLst>
              <a:gd name="adj" fmla="val 20202"/>
            </a:avLst>
          </a:prstGeom>
          <a:solidFill>
            <a:srgbClr val="B5541C"/>
          </a:solidFill>
          <a:ln/>
        </p:spPr>
      </p:sp>
      <p:sp>
        <p:nvSpPr>
          <p:cNvPr id="19" name="Text 17"/>
          <p:cNvSpPr/>
          <p:nvPr/>
        </p:nvSpPr>
        <p:spPr>
          <a:xfrm>
            <a:off x="1016000" y="5334000"/>
            <a:ext cx="2840355"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F8F0"/>
                </a:solidFill>
                <a:latin typeface="IBM Plex Sans" pitchFamily="34" charset="0"/>
                <a:ea typeface="IBM Plex Sans" pitchFamily="34" charset="-122"/>
                <a:cs typeface="IBM Plex Sans" pitchFamily="34" charset="-120"/>
              </a:rPr>
              <a:t>Erreur</a:t>
            </a:r>
            <a:r>
              <a:rPr lang="en-US" sz="1400" dirty="0">
                <a:solidFill>
                  <a:srgbClr val="FFF8F0"/>
                </a:solidFill>
                <a:latin typeface="IBM Plex Sans" pitchFamily="34" charset="0"/>
                <a:ea typeface="IBM Plex Sans" pitchFamily="34" charset="-122"/>
                <a:cs typeface="IBM Plex Sans" pitchFamily="34" charset="-120"/>
              </a:rPr>
              <a:t> → dernière mise à jour</a:t>
            </a:r>
            <a:endParaRPr lang="en-US" sz="1400" dirty="0"/>
          </a:p>
        </p:txBody>
      </p:sp>
      <p:sp>
        <p:nvSpPr>
          <p:cNvPr id="20" name="Text 18"/>
          <p:cNvSpPr/>
          <p:nvPr/>
        </p:nvSpPr>
        <p:spPr>
          <a:xfrm>
            <a:off x="4726908" y="5334000"/>
            <a:ext cx="2334292"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FFF8F0"/>
                </a:solidFill>
                <a:latin typeface="IBM Plex Sans" pitchFamily="34" charset="0"/>
                <a:ea typeface="IBM Plex Sans" pitchFamily="34" charset="-122"/>
                <a:cs typeface="IBM Plex Sans" pitchFamily="34" charset="-120"/>
              </a:rPr>
              <a:t>Erreurs restantes : 0 / 4</a:t>
            </a:r>
            <a:endParaRPr lang="en-US" sz="1400" dirty="0"/>
          </a:p>
        </p:txBody>
      </p:sp>
      <p:sp>
        <p:nvSpPr>
          <p:cNvPr id="21" name="Shape 19"/>
          <p:cNvSpPr/>
          <p:nvPr/>
        </p:nvSpPr>
        <p:spPr>
          <a:xfrm>
            <a:off x="7569200" y="1899921"/>
            <a:ext cx="3810000" cy="3810000"/>
          </a:xfrm>
          <a:prstGeom prst="roundRect">
            <a:avLst>
              <a:gd name="adj" fmla="val 2667"/>
            </a:avLst>
          </a:prstGeom>
          <a:solidFill>
            <a:srgbClr val="FFFFFF"/>
          </a:solidFill>
          <a:ln/>
        </p:spPr>
      </p:sp>
      <p:pic>
        <p:nvPicPr>
          <p:cNvPr id="22" name="Image 0" descr="Itération 4 : la droite x2 ≈ 1,55 x1 passe par l’origine et sépare E1 et E3, en bas à droite, de E2 et E4, en haut à gauche ; toutes les données sont bien classées">    </p:cNvPr>
          <p:cNvPicPr>
            <a:picLocks noChangeAspect="1"/>
          </p:cNvPicPr>
          <p:nvPr/>
        </p:nvPicPr>
        <p:blipFill>
          <a:blip r:embed="rId1"/>
          <a:srcRect l="0" r="0" t="0" b="0"/>
          <a:stretch/>
        </p:blipFill>
        <p:spPr>
          <a:xfrm>
            <a:off x="7569200" y="1899921"/>
            <a:ext cx="3810000" cy="3810000"/>
          </a:xfrm>
          <a:prstGeom prst="roundRect">
            <a:avLst>
              <a:gd name="adj" fmla="val 2667"/>
            </a:avLst>
          </a:prstGeom>
        </p:spPr>
      </p:pic>
      <p:sp>
        <p:nvSpPr>
          <p:cNvPr id="23" name="Text 20"/>
          <p:cNvSpPr/>
          <p:nvPr/>
        </p:nvSpPr>
        <p:spPr>
          <a:xfrm>
            <a:off x="10871200" y="4554221"/>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x₁</a:t>
            </a:r>
            <a:endParaRPr lang="en-US" sz="1200" dirty="0"/>
          </a:p>
        </p:txBody>
      </p:sp>
      <p:sp>
        <p:nvSpPr>
          <p:cNvPr id="24" name="Text 21"/>
          <p:cNvSpPr/>
          <p:nvPr/>
        </p:nvSpPr>
        <p:spPr>
          <a:xfrm>
            <a:off x="8826500" y="2153921"/>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x₂</a:t>
            </a:r>
            <a:endParaRPr lang="en-US" sz="1200" dirty="0"/>
          </a:p>
        </p:txBody>
      </p:sp>
      <p:sp>
        <p:nvSpPr>
          <p:cNvPr id="25" name="Text 22"/>
          <p:cNvSpPr/>
          <p:nvPr/>
        </p:nvSpPr>
        <p:spPr>
          <a:xfrm>
            <a:off x="8585200" y="45415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a:t>
            </a:r>
            <a:endParaRPr lang="en-US" sz="1200" dirty="0"/>
          </a:p>
        </p:txBody>
      </p:sp>
      <p:sp>
        <p:nvSpPr>
          <p:cNvPr id="26" name="Text 23"/>
          <p:cNvSpPr/>
          <p:nvPr/>
        </p:nvSpPr>
        <p:spPr>
          <a:xfrm>
            <a:off x="9664700" y="45669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27" name="Text 24"/>
          <p:cNvSpPr/>
          <p:nvPr/>
        </p:nvSpPr>
        <p:spPr>
          <a:xfrm>
            <a:off x="10604500" y="45669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28" name="Text 25"/>
          <p:cNvSpPr/>
          <p:nvPr/>
        </p:nvSpPr>
        <p:spPr>
          <a:xfrm>
            <a:off x="8585200" y="34493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29" name="Text 26"/>
          <p:cNvSpPr/>
          <p:nvPr/>
        </p:nvSpPr>
        <p:spPr>
          <a:xfrm>
            <a:off x="8585200" y="2509521"/>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30" name="Text 27"/>
          <p:cNvSpPr/>
          <p:nvPr/>
        </p:nvSpPr>
        <p:spPr>
          <a:xfrm>
            <a:off x="9804400" y="36144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E1</a:t>
            </a:r>
            <a:endParaRPr lang="en-US" sz="1200" dirty="0"/>
          </a:p>
        </p:txBody>
      </p:sp>
      <p:sp>
        <p:nvSpPr>
          <p:cNvPr id="31" name="Text 28"/>
          <p:cNvSpPr/>
          <p:nvPr/>
        </p:nvSpPr>
        <p:spPr>
          <a:xfrm>
            <a:off x="9385300" y="26619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E2</a:t>
            </a:r>
            <a:endParaRPr lang="en-US" sz="1200" dirty="0"/>
          </a:p>
        </p:txBody>
      </p:sp>
      <p:sp>
        <p:nvSpPr>
          <p:cNvPr id="32" name="Text 29"/>
          <p:cNvSpPr/>
          <p:nvPr/>
        </p:nvSpPr>
        <p:spPr>
          <a:xfrm>
            <a:off x="10744200" y="3614421"/>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E3</a:t>
            </a:r>
            <a:endParaRPr lang="en-US" sz="1200" dirty="0"/>
          </a:p>
        </p:txBody>
      </p:sp>
      <p:sp>
        <p:nvSpPr>
          <p:cNvPr id="33" name="Text 30"/>
          <p:cNvSpPr/>
          <p:nvPr/>
        </p:nvSpPr>
        <p:spPr>
          <a:xfrm>
            <a:off x="8661400" y="3017521"/>
            <a:ext cx="3556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E4</a:t>
            </a:r>
            <a:endParaRPr lang="en-US" sz="1200" dirty="0"/>
          </a:p>
        </p:txBody>
      </p:sp>
      <p:sp>
        <p:nvSpPr>
          <p:cNvPr id="34" name="Text 31"/>
          <p:cNvSpPr/>
          <p:nvPr/>
        </p:nvSpPr>
        <p:spPr>
          <a:xfrm>
            <a:off x="812800" y="6238242"/>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13</a:t>
            </a:r>
            <a:endParaRPr lang="en-US" sz="1200" dirty="0"/>
          </a:p>
        </p:txBody>
      </p:sp>
      <p:sp>
        <p:nvSpPr>
          <p:cNvPr id="35" name="Text 32"/>
          <p:cNvSpPr/>
          <p:nvPr/>
        </p:nvSpPr>
        <p:spPr>
          <a:xfrm>
            <a:off x="4838700" y="6238242"/>
            <a:ext cx="65405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classe 1 · ● classe 0 · zone orangée : ŷ = 1 · tirets : droite précédente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AE6D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EXEMPLE · ÉPOQUE 2</a:t>
            </a:r>
            <a:endParaRPr lang="en-US" sz="1200" dirty="0"/>
          </a:p>
        </p:txBody>
      </p:sp>
      <p:sp>
        <p:nvSpPr>
          <p:cNvPr id="3" name="Text 1"/>
          <p:cNvSpPr/>
          <p:nvPr>
            <p:ph type="title"/>
          </p:nvPr>
        </p:nvSpPr>
        <p:spPr>
          <a:xfrm>
            <a:off x="812800" y="1127764"/>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Itérations 5 à 8 : la vérification</a:t>
            </a:r>
            <a:endParaRPr lang="en-US" sz="3200" dirty="0"/>
          </a:p>
        </p:txBody>
      </p:sp>
      <p:sp>
        <p:nvSpPr>
          <p:cNvPr id="4" name="Text 2"/>
          <p:cNvSpPr/>
          <p:nvPr/>
        </p:nvSpPr>
        <p:spPr>
          <a:xfrm>
            <a:off x="812800" y="1899927"/>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Poids fixés à </a:t>
            </a:r>
            <a:r>
              <a:rPr lang="en-US" sz="1500" b="1" dirty="0">
                <a:solidFill>
                  <a:srgbClr val="14213D"/>
                </a:solidFill>
                <a:latin typeface="IBM Plex Sans" pitchFamily="34" charset="0"/>
                <a:ea typeface="IBM Plex Sans" pitchFamily="34" charset="-122"/>
                <a:cs typeface="IBM Plex Sans" pitchFamily="34" charset="-120"/>
              </a:rPr>
              <a:t>w₁ = 0,17 · w₂ = −0,11 · b = 0</a:t>
            </a:r>
            <a:r>
              <a:rPr lang="en-US" sz="1500" dirty="0">
                <a:solidFill>
                  <a:srgbClr val="4A5568"/>
                </a:solidFill>
                <a:latin typeface="IBM Plex Sans" pitchFamily="34" charset="0"/>
                <a:ea typeface="IBM Plex Sans" pitchFamily="34" charset="-122"/>
                <a:cs typeface="IBM Plex Sans" pitchFamily="34" charset="-120"/>
              </a:rPr>
              <a:t>, on repasse les quatre données.</a:t>
            </a:r>
            <a:endParaRPr lang="en-US" sz="1500" dirty="0"/>
          </a:p>
        </p:txBody>
      </p:sp>
      <p:sp>
        <p:nvSpPr>
          <p:cNvPr id="5" name="Shape 3"/>
          <p:cNvSpPr/>
          <p:nvPr/>
        </p:nvSpPr>
        <p:spPr>
          <a:xfrm>
            <a:off x="812800" y="2471427"/>
            <a:ext cx="10566400" cy="1927860"/>
          </a:xfrm>
          <a:prstGeom prst="rect">
            <a:avLst/>
          </a:prstGeom>
          <a:solidFill>
            <a:srgbClr val="FFFFF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481587"/>
          <a:ext cx="10556240" cy="1917700"/>
        </p:xfrm>
        <a:graphic>
          <a:graphicData uri="http://schemas.openxmlformats.org/drawingml/2006/table">
            <a:tbl>
              <a:tblPr/>
              <a:tblGrid>
                <a:gridCol w="1055624"/>
                <a:gridCol w="1688998"/>
                <a:gridCol w="2955747"/>
                <a:gridCol w="1055624"/>
                <a:gridCol w="738937"/>
                <a:gridCol w="738937"/>
                <a:gridCol w="2322373"/>
              </a:tblGrid>
              <a:tr h="383540">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Entrée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(x₁ ; x₂)</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Calcul de 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ŷ</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Résultat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 ;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0,17 − 0,11 + 0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correct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(0,8 ; 1,6)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0,136 − 0,176 + 0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correct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(2 ; 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0,34 − 0,11 + 0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0,23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correct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(0,5 ; 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0,085 − 0,165 + 0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−0,08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 correct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Shape 4"/>
          <p:cNvSpPr/>
          <p:nvPr/>
        </p:nvSpPr>
        <p:spPr>
          <a:xfrm>
            <a:off x="812800" y="4704085"/>
            <a:ext cx="10566400" cy="660400"/>
          </a:xfrm>
          <a:prstGeom prst="roundRect">
            <a:avLst>
              <a:gd name="adj" fmla="val 15385"/>
            </a:avLst>
          </a:prstGeom>
          <a:solidFill>
            <a:srgbClr val="14213D"/>
          </a:solidFill>
          <a:ln/>
        </p:spPr>
      </p:sp>
      <p:pic>
        <p:nvPicPr>
          <p:cNvPr id="8" name="Image 0" descr="CheckCircle">    </p:cNvPr>
          <p:cNvPicPr>
            <a:picLocks noChangeAspect="1"/>
          </p:cNvPicPr>
          <p:nvPr/>
        </p:nvPicPr>
        <p:blipFill>
          <a:blip r:embed="rId1"/>
          <a:srcRect l="0" r="0" t="0" b="0"/>
          <a:stretch/>
        </p:blipFill>
        <p:spPr>
          <a:xfrm>
            <a:off x="1066800" y="4881885"/>
            <a:ext cx="304800" cy="304800"/>
          </a:xfrm>
          <a:prstGeom prst="rect">
            <a:avLst/>
          </a:prstGeom>
        </p:spPr>
      </p:pic>
      <p:sp>
        <p:nvSpPr>
          <p:cNvPr id="9" name="Text 5"/>
          <p:cNvSpPr/>
          <p:nvPr/>
        </p:nvSpPr>
        <p:spPr>
          <a:xfrm>
            <a:off x="1524000" y="4900935"/>
            <a:ext cx="863241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4EE"/>
                </a:solidFill>
                <a:latin typeface="IBM Plex Sans" pitchFamily="34" charset="0"/>
                <a:ea typeface="IBM Plex Sans" pitchFamily="34" charset="-122"/>
                <a:cs typeface="IBM Plex Sans" pitchFamily="34" charset="-120"/>
              </a:rPr>
              <a:t>0 erreur sur une époque complète</a:t>
            </a:r>
            <a:r>
              <a:rPr lang="en-US" sz="1500" dirty="0">
                <a:solidFill>
                  <a:srgbClr val="F6F4EE"/>
                </a:solidFill>
                <a:latin typeface="IBM Plex Sans" pitchFamily="34" charset="0"/>
                <a:ea typeface="IBM Plex Sans" pitchFamily="34" charset="-122"/>
                <a:cs typeface="IBM Plex Sans" pitchFamily="34" charset="-120"/>
              </a:rPr>
              <a:t> → critère d’arrêt atteint, l’apprentissage s’arrête.</a:t>
            </a:r>
            <a:endParaRPr lang="en-US" sz="1500" dirty="0"/>
          </a:p>
        </p:txBody>
      </p:sp>
      <p:sp>
        <p:nvSpPr>
          <p:cNvPr id="10" name="Text 6"/>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14</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AE6D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EXEMPLE · BILAN</a:t>
            </a:r>
            <a:endParaRPr lang="en-US" sz="1200" dirty="0"/>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Quatre corrections pour trouver la droite</a:t>
            </a:r>
            <a:endParaRPr lang="en-US" sz="3200" dirty="0"/>
          </a:p>
        </p:txBody>
      </p:sp>
      <p:sp>
        <p:nvSpPr>
          <p:cNvPr id="4" name="Shape 2"/>
          <p:cNvSpPr/>
          <p:nvPr/>
        </p:nvSpPr>
        <p:spPr>
          <a:xfrm>
            <a:off x="812800" y="1899927"/>
            <a:ext cx="6451600" cy="2151380"/>
          </a:xfrm>
          <a:prstGeom prst="rect">
            <a:avLst/>
          </a:prstGeom>
          <a:solidFill>
            <a:srgbClr val="FFFFFF"/>
          </a:solidFill>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2960" y="1910087"/>
          <a:ext cx="6441440" cy="2141220"/>
        </p:xfrm>
        <a:graphic>
          <a:graphicData uri="http://schemas.openxmlformats.org/drawingml/2006/table">
            <a:tbl>
              <a:tblPr/>
              <a:tblGrid>
                <a:gridCol w="901802"/>
                <a:gridCol w="1932432"/>
                <a:gridCol w="2318918"/>
                <a:gridCol w="1288288"/>
              </a:tblGrid>
              <a:tr h="356870">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Itér.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Poids (w₁ ; w₂ ; 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Droite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ctr"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Erreurs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 ; 0 ; 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 / 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0,1 ; 0,1 ; 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x₂ = −x₁ − 1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 / 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0,02 ; −0,06 ; 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x₂ = x₁ / 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 / 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0,22 ; 0,04 ; 0,1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x₂ = −5,5x₁ − 2,5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 / 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0,17 ; −0,11 ; 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BAB0"/>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x₂ ≈ 1,55x₁</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BAB0"/>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c>
                  <a:txBody>
                    <a:bodyPr/>
                    <a:lstStyle/>
                    <a:p>
                      <a:pPr algn="ct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 / 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9BAB0"/>
                      </a:solidFill>
                      <a:prstDash val="solid"/>
                      <a:round/>
                      <a:headEnd type="none" w="med" len="med"/>
                      <a:tailEnd type="none" w="med" len="med"/>
                    </a:lnL>
                    <a:lnR w="12700" cap="flat" cmpd="sng" algn="ctr">
                      <a:solidFill>
                        <a:srgbClr val="C9BAB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9BAB0"/>
                      </a:solidFill>
                      <a:prstDash val="solid"/>
                      <a:round/>
                      <a:headEnd type="none" w="med" len="med"/>
                      <a:tailEnd type="none" w="med" len="med"/>
                    </a:lnB>
                    <a:solidFill>
                      <a:srgbClr val="FCE9DC"/>
                    </a:solidFill>
                  </a:tcPr>
                </a:tc>
              </a:tr>
            </a:tbl>
          </a:graphicData>
        </a:graphic>
      </p:graphicFrame>
      <p:sp>
        <p:nvSpPr>
          <p:cNvPr id="6" name="Text 3"/>
          <p:cNvSpPr/>
          <p:nvPr/>
        </p:nvSpPr>
        <p:spPr>
          <a:xfrm>
            <a:off x="812800" y="4612642"/>
            <a:ext cx="66451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Chaque correction ne regarde </a:t>
            </a:r>
            <a:r>
              <a:rPr lang="en-US" sz="1400" b="1" dirty="0">
                <a:solidFill>
                  <a:srgbClr val="14213D"/>
                </a:solidFill>
                <a:latin typeface="IBM Plex Sans" pitchFamily="34" charset="0"/>
                <a:ea typeface="IBM Plex Sans" pitchFamily="34" charset="-122"/>
                <a:cs typeface="IBM Plex Sans" pitchFamily="34" charset="-120"/>
              </a:rPr>
              <a:t>qu’une seule donnée</a:t>
            </a:r>
            <a:r>
              <a:rPr lang="en-US" sz="1400" dirty="0">
                <a:solidFill>
                  <a:srgbClr val="4A5568"/>
                </a:solidFill>
                <a:latin typeface="IBM Plex Sans" pitchFamily="34" charset="0"/>
                <a:ea typeface="IBM Plex Sans" pitchFamily="34" charset="-122"/>
                <a:cs typeface="IBM Plex Sans" pitchFamily="34" charset="-120"/>
              </a:rPr>
              <a:t> : la droite oscille d’abord, puis se stabilise.</a:t>
            </a:r>
            <a:endParaRPr lang="en-US" sz="1400" dirty="0"/>
          </a:p>
        </p:txBody>
      </p:sp>
      <p:sp>
        <p:nvSpPr>
          <p:cNvPr id="7" name="Text 4"/>
          <p:cNvSpPr/>
          <p:nvPr/>
        </p:nvSpPr>
        <p:spPr>
          <a:xfrm>
            <a:off x="812800" y="5212085"/>
            <a:ext cx="66451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Si les données sont linéairement séparables, le perceptron finit </a:t>
            </a:r>
            <a:r>
              <a:rPr lang="en-US" sz="1400" b="1" dirty="0">
                <a:solidFill>
                  <a:srgbClr val="14213D"/>
                </a:solidFill>
                <a:latin typeface="IBM Plex Sans" pitchFamily="34" charset="0"/>
                <a:ea typeface="IBM Plex Sans" pitchFamily="34" charset="-122"/>
                <a:cs typeface="IBM Plex Sans" pitchFamily="34" charset="-120"/>
              </a:rPr>
              <a:t>toujours</a:t>
            </a:r>
            <a:r>
              <a:rPr lang="en-US" sz="1400" dirty="0">
                <a:solidFill>
                  <a:srgbClr val="4A5568"/>
                </a:solidFill>
                <a:latin typeface="IBM Plex Sans" pitchFamily="34" charset="0"/>
                <a:ea typeface="IBM Plex Sans" pitchFamily="34" charset="-122"/>
                <a:cs typeface="IBM Plex Sans" pitchFamily="34" charset="-120"/>
              </a:rPr>
              <a:t> par converger.</a:t>
            </a:r>
            <a:endParaRPr lang="en-US" sz="1400" dirty="0"/>
          </a:p>
        </p:txBody>
      </p:sp>
      <p:sp>
        <p:nvSpPr>
          <p:cNvPr id="8" name="Shape 5"/>
          <p:cNvSpPr/>
          <p:nvPr/>
        </p:nvSpPr>
        <p:spPr>
          <a:xfrm>
            <a:off x="7569200" y="1899927"/>
            <a:ext cx="3810000" cy="3810000"/>
          </a:xfrm>
          <a:prstGeom prst="roundRect">
            <a:avLst>
              <a:gd name="adj" fmla="val 2667"/>
            </a:avLst>
          </a:prstGeom>
          <a:solidFill>
            <a:srgbClr val="FFFFFF"/>
          </a:solidFill>
          <a:ln/>
        </p:spPr>
      </p:sp>
      <p:pic>
        <p:nvPicPr>
          <p:cNvPr id="9" name="Image 0" descr="Droite finale x2 ≈ 1,55 x1 : E1 et E3, de classe 1, sont du côté prédit 1 ; E2 et E4, de classe 0, de l’autre côté">    </p:cNvPr>
          <p:cNvPicPr>
            <a:picLocks noChangeAspect="1"/>
          </p:cNvPicPr>
          <p:nvPr/>
        </p:nvPicPr>
        <p:blipFill>
          <a:blip r:embed="rId1"/>
          <a:srcRect l="0" r="0" t="0" b="0"/>
          <a:stretch/>
        </p:blipFill>
        <p:spPr>
          <a:xfrm>
            <a:off x="7569200" y="1899927"/>
            <a:ext cx="3810000" cy="3810000"/>
          </a:xfrm>
          <a:prstGeom prst="roundRect">
            <a:avLst>
              <a:gd name="adj" fmla="val 2667"/>
            </a:avLst>
          </a:prstGeom>
        </p:spPr>
      </p:pic>
      <p:sp>
        <p:nvSpPr>
          <p:cNvPr id="10" name="Text 6"/>
          <p:cNvSpPr/>
          <p:nvPr/>
        </p:nvSpPr>
        <p:spPr>
          <a:xfrm>
            <a:off x="10871200" y="4554227"/>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x₁</a:t>
            </a:r>
            <a:endParaRPr lang="en-US" sz="1200" dirty="0"/>
          </a:p>
        </p:txBody>
      </p:sp>
      <p:sp>
        <p:nvSpPr>
          <p:cNvPr id="11" name="Text 7"/>
          <p:cNvSpPr/>
          <p:nvPr/>
        </p:nvSpPr>
        <p:spPr>
          <a:xfrm>
            <a:off x="8826500" y="2153927"/>
            <a:ext cx="304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x₂</a:t>
            </a:r>
            <a:endParaRPr lang="en-US" sz="1200" dirty="0"/>
          </a:p>
        </p:txBody>
      </p:sp>
      <p:sp>
        <p:nvSpPr>
          <p:cNvPr id="12" name="Text 8"/>
          <p:cNvSpPr/>
          <p:nvPr/>
        </p:nvSpPr>
        <p:spPr>
          <a:xfrm>
            <a:off x="8585200" y="4541527"/>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0</a:t>
            </a:r>
            <a:endParaRPr lang="en-US" sz="1200" dirty="0"/>
          </a:p>
        </p:txBody>
      </p:sp>
      <p:sp>
        <p:nvSpPr>
          <p:cNvPr id="13" name="Text 9"/>
          <p:cNvSpPr/>
          <p:nvPr/>
        </p:nvSpPr>
        <p:spPr>
          <a:xfrm>
            <a:off x="9664700" y="4566927"/>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14" name="Text 10"/>
          <p:cNvSpPr/>
          <p:nvPr/>
        </p:nvSpPr>
        <p:spPr>
          <a:xfrm>
            <a:off x="10604500" y="4566927"/>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15" name="Text 11"/>
          <p:cNvSpPr/>
          <p:nvPr/>
        </p:nvSpPr>
        <p:spPr>
          <a:xfrm>
            <a:off x="8585200" y="3449327"/>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1</a:t>
            </a:r>
            <a:endParaRPr lang="en-US" sz="1200" dirty="0"/>
          </a:p>
        </p:txBody>
      </p:sp>
      <p:sp>
        <p:nvSpPr>
          <p:cNvPr id="16" name="Text 12"/>
          <p:cNvSpPr/>
          <p:nvPr/>
        </p:nvSpPr>
        <p:spPr>
          <a:xfrm>
            <a:off x="8585200" y="2509527"/>
            <a:ext cx="203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2</a:t>
            </a:r>
            <a:endParaRPr lang="en-US" sz="1200" dirty="0"/>
          </a:p>
        </p:txBody>
      </p:sp>
      <p:sp>
        <p:nvSpPr>
          <p:cNvPr id="17" name="Text 13"/>
          <p:cNvSpPr/>
          <p:nvPr/>
        </p:nvSpPr>
        <p:spPr>
          <a:xfrm>
            <a:off x="9804400" y="3614427"/>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E1</a:t>
            </a:r>
            <a:endParaRPr lang="en-US" sz="1200" dirty="0"/>
          </a:p>
        </p:txBody>
      </p:sp>
      <p:sp>
        <p:nvSpPr>
          <p:cNvPr id="18" name="Text 14"/>
          <p:cNvSpPr/>
          <p:nvPr/>
        </p:nvSpPr>
        <p:spPr>
          <a:xfrm>
            <a:off x="9385300" y="2661927"/>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E2</a:t>
            </a:r>
            <a:endParaRPr lang="en-US" sz="1200" dirty="0"/>
          </a:p>
        </p:txBody>
      </p:sp>
      <p:sp>
        <p:nvSpPr>
          <p:cNvPr id="19" name="Text 15"/>
          <p:cNvSpPr/>
          <p:nvPr/>
        </p:nvSpPr>
        <p:spPr>
          <a:xfrm>
            <a:off x="10744200" y="3614427"/>
            <a:ext cx="3556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E3</a:t>
            </a:r>
            <a:endParaRPr lang="en-US" sz="1200" dirty="0"/>
          </a:p>
        </p:txBody>
      </p:sp>
      <p:sp>
        <p:nvSpPr>
          <p:cNvPr id="20" name="Text 16"/>
          <p:cNvSpPr/>
          <p:nvPr/>
        </p:nvSpPr>
        <p:spPr>
          <a:xfrm>
            <a:off x="8775700" y="2954027"/>
            <a:ext cx="3556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E4</a:t>
            </a:r>
            <a:endParaRPr lang="en-US" sz="1200" dirty="0"/>
          </a:p>
        </p:txBody>
      </p:sp>
      <p:sp>
        <p:nvSpPr>
          <p:cNvPr id="21" name="Text 17"/>
          <p:cNvSpPr/>
          <p:nvPr/>
        </p:nvSpPr>
        <p:spPr>
          <a:xfrm>
            <a:off x="812800" y="6238242"/>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15</a:t>
            </a:r>
            <a:endParaRPr lang="en-US" sz="1200" dirty="0"/>
          </a:p>
        </p:txBody>
      </p:sp>
      <p:sp>
        <p:nvSpPr>
          <p:cNvPr id="22" name="Text 18"/>
          <p:cNvSpPr/>
          <p:nvPr/>
        </p:nvSpPr>
        <p:spPr>
          <a:xfrm>
            <a:off x="5492750" y="6238242"/>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classe 1 · ● classe 0 · zone orangée : ŷ = 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LIMITES</a:t>
            </a:r>
            <a:endParaRPr lang="en-US" sz="1200" dirty="0"/>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ET et OU oui, OU exclusif non</a:t>
            </a:r>
            <a:endParaRPr lang="en-US" sz="3200" dirty="0"/>
          </a:p>
        </p:txBody>
      </p:sp>
      <p:sp>
        <p:nvSpPr>
          <p:cNvPr id="4" name="Shape 2"/>
          <p:cNvSpPr/>
          <p:nvPr/>
        </p:nvSpPr>
        <p:spPr>
          <a:xfrm>
            <a:off x="815975" y="1852302"/>
            <a:ext cx="3373517" cy="1700530"/>
          </a:xfrm>
          <a:prstGeom prst="roundRect">
            <a:avLst>
              <a:gd name="adj" fmla="val 5788"/>
            </a:avLst>
          </a:prstGeom>
          <a:solidFill>
            <a:srgbClr val="FFFFFF"/>
          </a:solidFill>
          <a:ln w="6350">
            <a:solidFill>
              <a:srgbClr val="DDD8CB"/>
            </a:solidFill>
            <a:prstDash val="solid"/>
          </a:ln>
        </p:spPr>
      </p:sp>
      <p:pic>
        <p:nvPicPr>
          <p:cNvPr id="5" name="Image 0" descr="ET logique : seul le point (1,1) est de classe 1 ; une droite le sépare des trois autres">    </p:cNvPr>
          <p:cNvPicPr>
            <a:picLocks noChangeAspect="1"/>
          </p:cNvPicPr>
          <p:nvPr/>
        </p:nvPicPr>
        <p:blipFill>
          <a:blip r:embed="rId1"/>
          <a:srcRect l="0" r="0" t="0" b="0"/>
          <a:stretch/>
        </p:blipFill>
        <p:spPr>
          <a:xfrm>
            <a:off x="1021080" y="2067558"/>
            <a:ext cx="1270000" cy="1270000"/>
          </a:xfrm>
          <a:prstGeom prst="rect">
            <a:avLst/>
          </a:prstGeom>
        </p:spPr>
      </p:pic>
      <p:sp>
        <p:nvSpPr>
          <p:cNvPr id="6" name="Text 3"/>
          <p:cNvSpPr/>
          <p:nvPr/>
        </p:nvSpPr>
        <p:spPr>
          <a:xfrm>
            <a:off x="2443480" y="2424435"/>
            <a:ext cx="7851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ET</a:t>
            </a:r>
            <a:endParaRPr lang="en-US" sz="1800" dirty="0"/>
          </a:p>
        </p:txBody>
      </p:sp>
      <p:sp>
        <p:nvSpPr>
          <p:cNvPr id="7" name="Text 4"/>
          <p:cNvSpPr/>
          <p:nvPr/>
        </p:nvSpPr>
        <p:spPr>
          <a:xfrm>
            <a:off x="2443480" y="2749550"/>
            <a:ext cx="88125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séparable</a:t>
            </a:r>
            <a:endParaRPr lang="en-US" sz="1300" dirty="0"/>
          </a:p>
        </p:txBody>
      </p:sp>
      <p:sp>
        <p:nvSpPr>
          <p:cNvPr id="8" name="Shape 5"/>
          <p:cNvSpPr/>
          <p:nvPr/>
        </p:nvSpPr>
        <p:spPr>
          <a:xfrm>
            <a:off x="4399042" y="1852302"/>
            <a:ext cx="3373596" cy="1700530"/>
          </a:xfrm>
          <a:prstGeom prst="roundRect">
            <a:avLst>
              <a:gd name="adj" fmla="val 5788"/>
            </a:avLst>
          </a:prstGeom>
          <a:solidFill>
            <a:srgbClr val="FFFFFF"/>
          </a:solidFill>
          <a:ln w="6350">
            <a:solidFill>
              <a:srgbClr val="DDD8CB"/>
            </a:solidFill>
            <a:prstDash val="solid"/>
          </a:ln>
        </p:spPr>
      </p:sp>
      <p:pic>
        <p:nvPicPr>
          <p:cNvPr id="9" name="Image 1" descr="OU logique : seul le point (0,0) est de classe 0 ; une droite le sépare des trois autres">    </p:cNvPr>
          <p:cNvPicPr>
            <a:picLocks noChangeAspect="1"/>
          </p:cNvPicPr>
          <p:nvPr/>
        </p:nvPicPr>
        <p:blipFill>
          <a:blip r:embed="rId2"/>
          <a:srcRect l="0" r="0" t="0" b="0"/>
          <a:stretch/>
        </p:blipFill>
        <p:spPr>
          <a:xfrm>
            <a:off x="4604147" y="2067558"/>
            <a:ext cx="1270000" cy="1270000"/>
          </a:xfrm>
          <a:prstGeom prst="rect">
            <a:avLst/>
          </a:prstGeom>
        </p:spPr>
      </p:pic>
      <p:sp>
        <p:nvSpPr>
          <p:cNvPr id="10" name="Text 6"/>
          <p:cNvSpPr/>
          <p:nvPr/>
        </p:nvSpPr>
        <p:spPr>
          <a:xfrm>
            <a:off x="6026547" y="2424435"/>
            <a:ext cx="785178"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OU</a:t>
            </a:r>
            <a:endParaRPr lang="en-US" sz="1800" dirty="0"/>
          </a:p>
        </p:txBody>
      </p:sp>
      <p:sp>
        <p:nvSpPr>
          <p:cNvPr id="11" name="Text 7"/>
          <p:cNvSpPr/>
          <p:nvPr/>
        </p:nvSpPr>
        <p:spPr>
          <a:xfrm>
            <a:off x="6026547" y="2749550"/>
            <a:ext cx="88125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séparable</a:t>
            </a:r>
            <a:endParaRPr lang="en-US" sz="1300" dirty="0"/>
          </a:p>
        </p:txBody>
      </p:sp>
      <p:sp>
        <p:nvSpPr>
          <p:cNvPr id="12" name="Shape 8"/>
          <p:cNvSpPr/>
          <p:nvPr/>
        </p:nvSpPr>
        <p:spPr>
          <a:xfrm>
            <a:off x="7988538" y="1858652"/>
            <a:ext cx="3381137" cy="1687830"/>
          </a:xfrm>
          <a:prstGeom prst="roundRect">
            <a:avLst>
              <a:gd name="adj" fmla="val 5455"/>
            </a:avLst>
          </a:prstGeom>
          <a:solidFill>
            <a:srgbClr val="FFFFFF"/>
          </a:solidFill>
          <a:ln w="19050">
            <a:solidFill>
              <a:srgbClr val="B5541C"/>
            </a:solidFill>
            <a:prstDash val="solid"/>
          </a:ln>
        </p:spPr>
      </p:sp>
      <p:pic>
        <p:nvPicPr>
          <p:cNvPr id="13" name="Image 2" descr="OU exclusif : les classes sont en diagonale ; aucune droite ne peut les séparer">    </p:cNvPr>
          <p:cNvPicPr>
            <a:picLocks noChangeAspect="1"/>
          </p:cNvPicPr>
          <p:nvPr/>
        </p:nvPicPr>
        <p:blipFill>
          <a:blip r:embed="rId3"/>
          <a:srcRect l="0" r="0" t="0" b="0"/>
          <a:stretch/>
        </p:blipFill>
        <p:spPr>
          <a:xfrm>
            <a:off x="8197453" y="2067558"/>
            <a:ext cx="1270000" cy="1270000"/>
          </a:xfrm>
          <a:prstGeom prst="rect">
            <a:avLst/>
          </a:prstGeom>
        </p:spPr>
      </p:pic>
      <p:sp>
        <p:nvSpPr>
          <p:cNvPr id="14" name="Text 9"/>
          <p:cNvSpPr/>
          <p:nvPr/>
        </p:nvSpPr>
        <p:spPr>
          <a:xfrm>
            <a:off x="9619853" y="2424435"/>
            <a:ext cx="113784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XOR</a:t>
            </a:r>
            <a:endParaRPr lang="en-US" sz="1800" dirty="0"/>
          </a:p>
        </p:txBody>
      </p:sp>
      <p:sp>
        <p:nvSpPr>
          <p:cNvPr id="15" name="Text 10"/>
          <p:cNvSpPr/>
          <p:nvPr/>
        </p:nvSpPr>
        <p:spPr>
          <a:xfrm>
            <a:off x="9619853" y="2749550"/>
            <a:ext cx="130444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541C"/>
                </a:solidFill>
                <a:latin typeface="IBM Plex Sans" pitchFamily="34" charset="0"/>
                <a:ea typeface="IBM Plex Sans" pitchFamily="34" charset="-122"/>
                <a:cs typeface="IBM Plex Sans" pitchFamily="34" charset="-120"/>
              </a:rPr>
              <a:t>non séparable</a:t>
            </a:r>
            <a:endParaRPr lang="en-US" sz="1300" dirty="0"/>
          </a:p>
        </p:txBody>
      </p:sp>
      <p:sp>
        <p:nvSpPr>
          <p:cNvPr id="16" name="Text 11"/>
          <p:cNvSpPr/>
          <p:nvPr/>
        </p:nvSpPr>
        <p:spPr>
          <a:xfrm>
            <a:off x="812800" y="38100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 classe 1 · ● classe 0 · trait orange = droite de séparation</a:t>
            </a:r>
            <a:endParaRPr lang="en-US" sz="1300" dirty="0"/>
          </a:p>
        </p:txBody>
      </p:sp>
      <p:sp>
        <p:nvSpPr>
          <p:cNvPr id="17" name="Shape 12"/>
          <p:cNvSpPr/>
          <p:nvPr/>
        </p:nvSpPr>
        <p:spPr>
          <a:xfrm>
            <a:off x="812800" y="4295142"/>
            <a:ext cx="10566400" cy="998220"/>
          </a:xfrm>
          <a:prstGeom prst="roundRect">
            <a:avLst>
              <a:gd name="adj" fmla="val 10178"/>
            </a:avLst>
          </a:prstGeom>
          <a:solidFill>
            <a:srgbClr val="14213D"/>
          </a:solidFill>
          <a:ln/>
        </p:spPr>
      </p:sp>
      <p:sp>
        <p:nvSpPr>
          <p:cNvPr id="18" name="Text 13"/>
          <p:cNvSpPr/>
          <p:nvPr/>
        </p:nvSpPr>
        <p:spPr>
          <a:xfrm>
            <a:off x="1066800" y="4498342"/>
            <a:ext cx="1036015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09A5B"/>
                </a:solidFill>
                <a:latin typeface="Space Grotesk" pitchFamily="34" charset="0"/>
                <a:ea typeface="Space Grotesk" pitchFamily="34" charset="-122"/>
                <a:cs typeface="Space Grotesk" pitchFamily="34" charset="-120"/>
              </a:rPr>
              <a:t>Solution : le perceptron multicouche</a:t>
            </a:r>
            <a:endParaRPr lang="en-US" sz="1800" dirty="0"/>
          </a:p>
        </p:txBody>
      </p:sp>
      <p:sp>
        <p:nvSpPr>
          <p:cNvPr id="19" name="Text 14"/>
          <p:cNvSpPr/>
          <p:nvPr/>
        </p:nvSpPr>
        <p:spPr>
          <a:xfrm>
            <a:off x="1066800" y="4823458"/>
            <a:ext cx="1036015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IBM Plex Sans" pitchFamily="34" charset="0"/>
                <a:ea typeface="IBM Plex Sans" pitchFamily="34" charset="-122"/>
                <a:cs typeface="IBM Plex Sans" pitchFamily="34" charset="-120"/>
              </a:rPr>
              <a:t>Il combine plusieurs séparateurs linéaires pour produire un séparateur global non linéaire.</a:t>
            </a:r>
            <a:endParaRPr lang="en-US" sz="1500" dirty="0"/>
          </a:p>
        </p:txBody>
      </p:sp>
      <p:sp>
        <p:nvSpPr>
          <p:cNvPr id="20" name="Text 15"/>
          <p:cNvSpPr/>
          <p:nvPr/>
        </p:nvSpPr>
        <p:spPr>
          <a:xfrm>
            <a:off x="812800" y="6238242"/>
            <a:ext cx="52324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16</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VISUALISATION</a:t>
            </a:r>
            <a:endParaRPr lang="en-US" sz="1200" dirty="0"/>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Voir un hyperplan grâce à l’ACP</a:t>
            </a:r>
            <a:endParaRPr lang="en-US" sz="3200" dirty="0"/>
          </a:p>
        </p:txBody>
      </p:sp>
      <p:sp>
        <p:nvSpPr>
          <p:cNvPr id="4" name="Text 2"/>
          <p:cNvSpPr/>
          <p:nvPr/>
        </p:nvSpPr>
        <p:spPr>
          <a:xfrm>
            <a:off x="812800" y="1798327"/>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8"/>
                </a:solidFill>
                <a:latin typeface="IBM Plex Sans" pitchFamily="34" charset="0"/>
                <a:ea typeface="IBM Plex Sans" pitchFamily="34" charset="-122"/>
                <a:cs typeface="IBM Plex Sans" pitchFamily="34" charset="-120"/>
              </a:rPr>
              <a:t>L’</a:t>
            </a:r>
            <a:r>
              <a:rPr lang="en-US" sz="1500" b="1" dirty="0">
                <a:solidFill>
                  <a:srgbClr val="14213D"/>
                </a:solidFill>
                <a:latin typeface="IBM Plex Sans" pitchFamily="34" charset="0"/>
                <a:ea typeface="IBM Plex Sans" pitchFamily="34" charset="-122"/>
                <a:cs typeface="IBM Plex Sans" pitchFamily="34" charset="-120"/>
              </a:rPr>
              <a:t>ACP</a:t>
            </a:r>
            <a:r>
              <a:rPr lang="en-US" sz="1500" dirty="0">
                <a:solidFill>
                  <a:srgbClr val="4A5568"/>
                </a:solidFill>
                <a:latin typeface="IBM Plex Sans" pitchFamily="34" charset="0"/>
                <a:ea typeface="IBM Plex Sans" pitchFamily="34" charset="-122"/>
                <a:cs typeface="IBM Plex Sans" pitchFamily="34" charset="-120"/>
              </a:rPr>
              <a:t> (analyse en composantes principales) projette les données sur les </a:t>
            </a:r>
            <a:r>
              <a:rPr lang="en-US" sz="1500" b="1" dirty="0">
                <a:solidFill>
                  <a:srgbClr val="14213D"/>
                </a:solidFill>
                <a:latin typeface="IBM Plex Sans" pitchFamily="34" charset="0"/>
                <a:ea typeface="IBM Plex Sans" pitchFamily="34" charset="-122"/>
                <a:cs typeface="IBM Plex Sans" pitchFamily="34" charset="-120"/>
              </a:rPr>
              <a:t>2 axes qui conservent le plus de variance</a:t>
            </a:r>
            <a:r>
              <a:rPr lang="en-US" sz="1500" dirty="0">
                <a:solidFill>
                  <a:srgbClr val="4A5568"/>
                </a:solidFill>
                <a:latin typeface="IBM Plex Sans" pitchFamily="34" charset="0"/>
                <a:ea typeface="IBM Plex Sans" pitchFamily="34" charset="-122"/>
                <a:cs typeface="IBM Plex Sans" pitchFamily="34" charset="-120"/>
              </a:rPr>
              <a:t>, pour les afficher dans un plan.</a:t>
            </a:r>
            <a:endParaRPr lang="en-US" sz="1500" dirty="0"/>
          </a:p>
        </p:txBody>
      </p:sp>
      <p:sp>
        <p:nvSpPr>
          <p:cNvPr id="5" name="Shape 3"/>
          <p:cNvSpPr/>
          <p:nvPr/>
        </p:nvSpPr>
        <p:spPr>
          <a:xfrm>
            <a:off x="812800" y="2534927"/>
            <a:ext cx="10566400" cy="711200"/>
          </a:xfrm>
          <a:prstGeom prst="roundRect">
            <a:avLst>
              <a:gd name="adj" fmla="val 14286"/>
            </a:avLst>
          </a:prstGeom>
          <a:solidFill>
            <a:srgbClr val="14213D"/>
          </a:solidFill>
          <a:ln/>
        </p:spPr>
      </p:sp>
      <p:sp>
        <p:nvSpPr>
          <p:cNvPr id="6" name="Text 4"/>
          <p:cNvSpPr/>
          <p:nvPr/>
        </p:nvSpPr>
        <p:spPr>
          <a:xfrm>
            <a:off x="1066800" y="2712727"/>
            <a:ext cx="2511634" cy="381000"/>
          </a:xfrm>
          <a:prstGeom prst="rect">
            <a:avLst/>
          </a:prstGeom>
          <a:noFill/>
          <a:ln/>
        </p:spPr>
        <p:txBody>
          <a:bodyPr wrap="none" lIns="0" tIns="0" rIns="0" bIns="0" rtlCol="0" anchor="t">
            <a:normAutofit/>
          </a:bodyPr>
          <a:lstStyle/>
          <a:p>
            <a:pPr algn="l" indent="0" marL="0">
              <a:lnSpc>
                <a:spcPts val="2800"/>
              </a:lnSpc>
              <a:buNone/>
            </a:pPr>
            <a:r>
              <a:rPr lang="en-US" sz="2000" b="1" dirty="0">
                <a:solidFill>
                  <a:srgbClr val="F09A5B"/>
                </a:solidFill>
                <a:latin typeface="JetBrains Mono" pitchFamily="49" charset="0"/>
                <a:ea typeface="JetBrains Mono" pitchFamily="49" charset="-122"/>
                <a:cs typeface="JetBrains Mono" pitchFamily="49" charset="-120"/>
              </a:rPr>
              <a:t>z = Vᵀ · (x − μ)</a:t>
            </a:r>
            <a:endParaRPr lang="en-US" sz="2000" dirty="0"/>
          </a:p>
        </p:txBody>
      </p:sp>
      <p:sp>
        <p:nvSpPr>
          <p:cNvPr id="7" name="Text 5"/>
          <p:cNvSpPr/>
          <p:nvPr/>
        </p:nvSpPr>
        <p:spPr>
          <a:xfrm>
            <a:off x="3810079" y="2774950"/>
            <a:ext cx="756912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9DA"/>
                </a:solidFill>
                <a:latin typeface="IBM Plex Sans" pitchFamily="34" charset="0"/>
                <a:ea typeface="IBM Plex Sans" pitchFamily="34" charset="-122"/>
                <a:cs typeface="IBM Plex Sans" pitchFamily="34" charset="-120"/>
              </a:rPr>
              <a:t>μ : moyenne des données · V : les 2 axes principaux · z = (z₁ ; z₂) : coordonnées dans le plan</a:t>
            </a:r>
            <a:endParaRPr lang="en-US" sz="1300" dirty="0"/>
          </a:p>
        </p:txBody>
      </p:sp>
      <p:sp>
        <p:nvSpPr>
          <p:cNvPr id="8" name="Shape 6"/>
          <p:cNvSpPr/>
          <p:nvPr/>
        </p:nvSpPr>
        <p:spPr>
          <a:xfrm>
            <a:off x="815975" y="3452502"/>
            <a:ext cx="5175250" cy="1245870"/>
          </a:xfrm>
          <a:prstGeom prst="roundRect">
            <a:avLst>
              <a:gd name="adj" fmla="val 7900"/>
            </a:avLst>
          </a:prstGeom>
          <a:solidFill>
            <a:srgbClr val="FFFFFF"/>
          </a:solidFill>
          <a:ln w="6350">
            <a:solidFill>
              <a:srgbClr val="DDD8CB"/>
            </a:solidFill>
            <a:prstDash val="solid"/>
          </a:ln>
        </p:spPr>
      </p:sp>
      <p:sp>
        <p:nvSpPr>
          <p:cNvPr id="9" name="Text 7"/>
          <p:cNvSpPr/>
          <p:nvPr/>
        </p:nvSpPr>
        <p:spPr>
          <a:xfrm>
            <a:off x="1071880" y="3657600"/>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541C"/>
                </a:solidFill>
                <a:latin typeface="Space Grotesk" pitchFamily="34" charset="0"/>
                <a:ea typeface="Space Grotesk" pitchFamily="34" charset="-122"/>
                <a:cs typeface="Space Grotesk" pitchFamily="34" charset="-120"/>
              </a:rPr>
              <a:t>Cas 1 · ACP, puis perceptron</a:t>
            </a:r>
            <a:endParaRPr lang="en-US" sz="1800" dirty="0"/>
          </a:p>
        </p:txBody>
      </p:sp>
      <p:sp>
        <p:nvSpPr>
          <p:cNvPr id="10" name="Text 8"/>
          <p:cNvSpPr/>
          <p:nvPr/>
        </p:nvSpPr>
        <p:spPr>
          <a:xfrm>
            <a:off x="1071880" y="3995427"/>
            <a:ext cx="48033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On entraîne le perceptron directement sur (z₁ ; z₂).</a:t>
            </a:r>
            <a:endParaRPr lang="en-US" sz="1400" dirty="0"/>
          </a:p>
        </p:txBody>
      </p:sp>
      <p:sp>
        <p:nvSpPr>
          <p:cNvPr id="11" name="Shape 9"/>
          <p:cNvSpPr/>
          <p:nvPr/>
        </p:nvSpPr>
        <p:spPr>
          <a:xfrm>
            <a:off x="6200775" y="3452502"/>
            <a:ext cx="5175250" cy="1245870"/>
          </a:xfrm>
          <a:prstGeom prst="roundRect">
            <a:avLst>
              <a:gd name="adj" fmla="val 7900"/>
            </a:avLst>
          </a:prstGeom>
          <a:solidFill>
            <a:srgbClr val="FFFFFF"/>
          </a:solidFill>
          <a:ln w="6350">
            <a:solidFill>
              <a:srgbClr val="DDD8CB"/>
            </a:solidFill>
            <a:prstDash val="solid"/>
          </a:ln>
        </p:spPr>
      </p:sp>
      <p:sp>
        <p:nvSpPr>
          <p:cNvPr id="12" name="Text 10"/>
          <p:cNvSpPr/>
          <p:nvPr/>
        </p:nvSpPr>
        <p:spPr>
          <a:xfrm>
            <a:off x="6456680" y="3657600"/>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B5541C"/>
                </a:solidFill>
                <a:latin typeface="Space Grotesk" pitchFamily="34" charset="0"/>
                <a:ea typeface="Space Grotesk" pitchFamily="34" charset="-122"/>
                <a:cs typeface="Space Grotesk" pitchFamily="34" charset="-120"/>
              </a:rPr>
              <a:t>Cas 2 · perceptron, puis ACP</a:t>
            </a:r>
            <a:endParaRPr lang="en-US" sz="1800" dirty="0"/>
          </a:p>
        </p:txBody>
      </p:sp>
      <p:sp>
        <p:nvSpPr>
          <p:cNvPr id="13" name="Text 11"/>
          <p:cNvSpPr/>
          <p:nvPr/>
        </p:nvSpPr>
        <p:spPr>
          <a:xfrm>
            <a:off x="6456680" y="3995427"/>
            <a:ext cx="48033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On entraîne sur toutes les variables, puis on projette l’hyperplan.</a:t>
            </a:r>
            <a:endParaRPr lang="en-US" sz="1400" dirty="0"/>
          </a:p>
        </p:txBody>
      </p:sp>
      <p:sp>
        <p:nvSpPr>
          <p:cNvPr id="14" name="Text 12"/>
          <p:cNvSpPr/>
          <p:nvPr/>
        </p:nvSpPr>
        <p:spPr>
          <a:xfrm>
            <a:off x="812800" y="4904742"/>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Pour la suite : données simulées, 31 points, 5 caractéristiques normalisées. Les 2 composantes gardent </a:t>
            </a:r>
            <a:r>
              <a:rPr lang="en-US" sz="1300" b="1" dirty="0">
                <a:solidFill>
                  <a:srgbClr val="14213D"/>
                </a:solidFill>
                <a:latin typeface="IBM Plex Sans" pitchFamily="34" charset="0"/>
                <a:ea typeface="IBM Plex Sans" pitchFamily="34" charset="-122"/>
                <a:cs typeface="IBM Plex Sans" pitchFamily="34" charset="-120"/>
              </a:rPr>
              <a:t>64 % de la variance</a:t>
            </a:r>
            <a:r>
              <a:rPr lang="en-US" sz="1300" dirty="0">
                <a:solidFill>
                  <a:srgbClr val="4A5568"/>
                </a:solidFill>
                <a:latin typeface="IBM Plex Sans" pitchFamily="34" charset="0"/>
                <a:ea typeface="IBM Plex Sans" pitchFamily="34" charset="-122"/>
                <a:cs typeface="IBM Plex Sans" pitchFamily="34" charset="-120"/>
              </a:rPr>
              <a:t>.</a:t>
            </a:r>
            <a:endParaRPr lang="en-US" sz="1300" dirty="0"/>
          </a:p>
        </p:txBody>
      </p:sp>
      <p:sp>
        <p:nvSpPr>
          <p:cNvPr id="15" name="Text 13"/>
          <p:cNvSpPr/>
          <p:nvPr/>
        </p:nvSpPr>
        <p:spPr>
          <a:xfrm>
            <a:off x="812800" y="6238242"/>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ACP · CAS 1</a:t>
            </a:r>
            <a:endParaRPr lang="en-US" sz="1200" dirty="0"/>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Entraîner sur les 2 composantes</a:t>
            </a:r>
            <a:endParaRPr lang="en-US" sz="3200" dirty="0"/>
          </a:p>
        </p:txBody>
      </p:sp>
      <p:sp>
        <p:nvSpPr>
          <p:cNvPr id="4" name="Text 2"/>
          <p:cNvSpPr/>
          <p:nvPr/>
        </p:nvSpPr>
        <p:spPr>
          <a:xfrm>
            <a:off x="812800" y="1899927"/>
            <a:ext cx="664514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1.</a:t>
            </a:r>
            <a:r>
              <a:rPr lang="en-US" sz="1400" dirty="0">
                <a:solidFill>
                  <a:srgbClr val="4A5568"/>
                </a:solidFill>
                <a:latin typeface="IBM Plex Sans" pitchFamily="34" charset="0"/>
                <a:ea typeface="IBM Plex Sans" pitchFamily="34" charset="-122"/>
                <a:cs typeface="IBM Plex Sans" pitchFamily="34" charset="-120"/>
              </a:rPr>
              <a:t> ACP : chaque point x (5 variables) devient z = (z₁ ; z₂).</a:t>
            </a:r>
            <a:endParaRPr lang="en-US" sz="1400" dirty="0"/>
          </a:p>
        </p:txBody>
      </p:sp>
      <p:sp>
        <p:nvSpPr>
          <p:cNvPr id="5" name="Text 3"/>
          <p:cNvSpPr/>
          <p:nvPr/>
        </p:nvSpPr>
        <p:spPr>
          <a:xfrm>
            <a:off x="812800" y="2250442"/>
            <a:ext cx="6645148"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213D"/>
                </a:solidFill>
                <a:latin typeface="IBM Plex Sans" pitchFamily="34" charset="0"/>
                <a:ea typeface="IBM Plex Sans" pitchFamily="34" charset="-122"/>
                <a:cs typeface="IBM Plex Sans" pitchFamily="34" charset="-120"/>
              </a:rPr>
              <a:t>2.</a:t>
            </a:r>
            <a:r>
              <a:rPr lang="en-US" sz="1400" dirty="0">
                <a:solidFill>
                  <a:srgbClr val="4A5568"/>
                </a:solidFill>
                <a:latin typeface="IBM Plex Sans" pitchFamily="34" charset="0"/>
                <a:ea typeface="IBM Plex Sans" pitchFamily="34" charset="-122"/>
                <a:cs typeface="IBM Plex Sans" pitchFamily="34" charset="-120"/>
              </a:rPr>
              <a:t> Perceptron sur z : il apprend directement une droite.</a:t>
            </a:r>
            <a:endParaRPr lang="en-US" sz="1400" dirty="0"/>
          </a:p>
        </p:txBody>
      </p:sp>
      <p:sp>
        <p:nvSpPr>
          <p:cNvPr id="6" name="Shape 4"/>
          <p:cNvSpPr/>
          <p:nvPr/>
        </p:nvSpPr>
        <p:spPr>
          <a:xfrm>
            <a:off x="812800" y="3115308"/>
            <a:ext cx="6451600" cy="899160"/>
          </a:xfrm>
          <a:prstGeom prst="roundRect">
            <a:avLst>
              <a:gd name="adj" fmla="val 11299"/>
            </a:avLst>
          </a:prstGeom>
          <a:solidFill>
            <a:srgbClr val="14213D"/>
          </a:solidFill>
          <a:ln/>
        </p:spPr>
      </p:sp>
      <p:sp>
        <p:nvSpPr>
          <p:cNvPr id="7" name="Text 5"/>
          <p:cNvSpPr/>
          <p:nvPr/>
        </p:nvSpPr>
        <p:spPr>
          <a:xfrm>
            <a:off x="1066800" y="3293108"/>
            <a:ext cx="61219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9A5B"/>
                </a:solidFill>
                <a:latin typeface="IBM Plex Sans" pitchFamily="34" charset="0"/>
                <a:ea typeface="IBM Plex Sans" pitchFamily="34" charset="-122"/>
                <a:cs typeface="IBM Plex Sans" pitchFamily="34" charset="-120"/>
              </a:rPr>
              <a:t>DROITE APPRISE</a:t>
            </a:r>
            <a:endParaRPr lang="en-US" sz="1200" dirty="0"/>
          </a:p>
        </p:txBody>
      </p:sp>
      <p:sp>
        <p:nvSpPr>
          <p:cNvPr id="8" name="Text 6"/>
          <p:cNvSpPr/>
          <p:nvPr/>
        </p:nvSpPr>
        <p:spPr>
          <a:xfrm>
            <a:off x="1066800" y="3569977"/>
            <a:ext cx="612190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4EE"/>
                </a:solidFill>
                <a:latin typeface="JetBrains Mono" pitchFamily="49" charset="0"/>
                <a:ea typeface="JetBrains Mono" pitchFamily="49" charset="-122"/>
                <a:cs typeface="JetBrains Mono" pitchFamily="49" charset="-120"/>
              </a:rPr>
              <a:t>0,11·z₁ − 1,88·z₂ + 0,1 = 0</a:t>
            </a:r>
            <a:endParaRPr lang="en-US" sz="1500" dirty="0"/>
          </a:p>
        </p:txBody>
      </p:sp>
      <p:sp>
        <p:nvSpPr>
          <p:cNvPr id="9" name="Shape 7"/>
          <p:cNvSpPr/>
          <p:nvPr/>
        </p:nvSpPr>
        <p:spPr>
          <a:xfrm>
            <a:off x="815975" y="4633602"/>
            <a:ext cx="3133090" cy="1073150"/>
          </a:xfrm>
          <a:prstGeom prst="roundRect">
            <a:avLst>
              <a:gd name="adj" fmla="val 9172"/>
            </a:avLst>
          </a:prstGeom>
          <a:solidFill>
            <a:srgbClr val="FFFFFF"/>
          </a:solidFill>
          <a:ln w="6350">
            <a:solidFill>
              <a:srgbClr val="DDD8CB"/>
            </a:solidFill>
            <a:prstDash val="solid"/>
          </a:ln>
        </p:spPr>
      </p:sp>
      <p:sp>
        <p:nvSpPr>
          <p:cNvPr id="10" name="Text 8"/>
          <p:cNvSpPr/>
          <p:nvPr/>
        </p:nvSpPr>
        <p:spPr>
          <a:xfrm>
            <a:off x="995680" y="4787900"/>
            <a:ext cx="285689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 Dessin exact</a:t>
            </a:r>
            <a:endParaRPr lang="en-US" sz="1300" dirty="0"/>
          </a:p>
        </p:txBody>
      </p:sp>
      <p:sp>
        <p:nvSpPr>
          <p:cNvPr id="11" name="Text 9"/>
          <p:cNvSpPr/>
          <p:nvPr/>
        </p:nvSpPr>
        <p:spPr>
          <a:xfrm>
            <a:off x="995680" y="5069842"/>
            <a:ext cx="285689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Ce qu’on voit est le modèle.</a:t>
            </a:r>
            <a:endParaRPr lang="en-US" sz="1300" dirty="0"/>
          </a:p>
        </p:txBody>
      </p:sp>
      <p:sp>
        <p:nvSpPr>
          <p:cNvPr id="12" name="Shape 10"/>
          <p:cNvSpPr/>
          <p:nvPr/>
        </p:nvSpPr>
        <p:spPr>
          <a:xfrm>
            <a:off x="4114165" y="4639952"/>
            <a:ext cx="3140710" cy="1060450"/>
          </a:xfrm>
          <a:prstGeom prst="roundRect">
            <a:avLst>
              <a:gd name="adj" fmla="val 8683"/>
            </a:avLst>
          </a:prstGeom>
          <a:solidFill>
            <a:srgbClr val="FFFFFF"/>
          </a:solidFill>
          <a:ln w="19050">
            <a:solidFill>
              <a:srgbClr val="B5541C"/>
            </a:solidFill>
            <a:prstDash val="solid"/>
          </a:ln>
        </p:spPr>
      </p:sp>
      <p:sp>
        <p:nvSpPr>
          <p:cNvPr id="13" name="Text 11"/>
          <p:cNvSpPr/>
          <p:nvPr/>
        </p:nvSpPr>
        <p:spPr>
          <a:xfrm>
            <a:off x="4297680" y="4798058"/>
            <a:ext cx="285689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541C"/>
                </a:solidFill>
                <a:latin typeface="IBM Plex Sans" pitchFamily="34" charset="0"/>
                <a:ea typeface="IBM Plex Sans" pitchFamily="34" charset="-122"/>
                <a:cs typeface="IBM Plex Sans" pitchFamily="34" charset="-120"/>
              </a:rPr>
              <a:t>✗ Autre modèle</a:t>
            </a:r>
            <a:endParaRPr lang="en-US" sz="1300" dirty="0"/>
          </a:p>
        </p:txBody>
      </p:sp>
      <p:sp>
        <p:nvSpPr>
          <p:cNvPr id="14" name="Text 12"/>
          <p:cNvSpPr/>
          <p:nvPr/>
        </p:nvSpPr>
        <p:spPr>
          <a:xfrm>
            <a:off x="4297680" y="5080000"/>
            <a:ext cx="285689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36 % de l’information perdue : </a:t>
            </a:r>
            <a:r>
              <a:rPr lang="en-US" sz="1300" b="1" dirty="0">
                <a:solidFill>
                  <a:srgbClr val="14213D"/>
                </a:solidFill>
                <a:latin typeface="IBM Plex Sans" pitchFamily="34" charset="0"/>
                <a:ea typeface="IBM Plex Sans" pitchFamily="34" charset="-122"/>
                <a:cs typeface="IBM Plex Sans" pitchFamily="34" charset="-120"/>
              </a:rPr>
              <a:t>2 erreurs</a:t>
            </a:r>
            <a:r>
              <a:rPr lang="en-US" sz="1300" dirty="0">
                <a:solidFill>
                  <a:srgbClr val="4A5568"/>
                </a:solidFill>
                <a:latin typeface="IBM Plex Sans" pitchFamily="34" charset="0"/>
                <a:ea typeface="IBM Plex Sans" pitchFamily="34" charset="-122"/>
                <a:cs typeface="IBM Plex Sans" pitchFamily="34" charset="-120"/>
              </a:rPr>
              <a:t> sur 31.</a:t>
            </a:r>
            <a:endParaRPr lang="en-US" sz="1300" dirty="0"/>
          </a:p>
        </p:txBody>
      </p:sp>
      <p:sp>
        <p:nvSpPr>
          <p:cNvPr id="15" name="Shape 13"/>
          <p:cNvSpPr/>
          <p:nvPr/>
        </p:nvSpPr>
        <p:spPr>
          <a:xfrm>
            <a:off x="7569200" y="1899927"/>
            <a:ext cx="3810000" cy="3810000"/>
          </a:xfrm>
          <a:prstGeom prst="roundRect">
            <a:avLst>
              <a:gd name="adj" fmla="val 2667"/>
            </a:avLst>
          </a:prstGeom>
          <a:solidFill>
            <a:srgbClr val="FFFFFF"/>
          </a:solidFill>
          <a:ln/>
        </p:spPr>
      </p:sp>
      <p:pic>
        <p:nvPicPr>
          <p:cNvPr id="16" name="Image 0" descr="Plan de l’ACP : la droite apprise en 2D sépare presque les deux classes, mais deux points restent mal classés, entourés">    </p:cNvPr>
          <p:cNvPicPr>
            <a:picLocks noChangeAspect="1"/>
          </p:cNvPicPr>
          <p:nvPr/>
        </p:nvPicPr>
        <p:blipFill>
          <a:blip r:embed="rId1"/>
          <a:srcRect l="0" r="0" t="0" b="0"/>
          <a:stretch/>
        </p:blipFill>
        <p:spPr>
          <a:xfrm>
            <a:off x="7569200" y="1899927"/>
            <a:ext cx="3810000" cy="3810000"/>
          </a:xfrm>
          <a:prstGeom prst="roundRect">
            <a:avLst>
              <a:gd name="adj" fmla="val 2667"/>
            </a:avLst>
          </a:prstGeom>
        </p:spPr>
      </p:pic>
      <p:sp>
        <p:nvSpPr>
          <p:cNvPr id="17" name="Text 14"/>
          <p:cNvSpPr/>
          <p:nvPr/>
        </p:nvSpPr>
        <p:spPr>
          <a:xfrm>
            <a:off x="9613900" y="5201927"/>
            <a:ext cx="1447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z₁ →</a:t>
            </a:r>
            <a:endParaRPr lang="en-US" sz="1200" dirty="0"/>
          </a:p>
        </p:txBody>
      </p:sp>
      <p:sp>
        <p:nvSpPr>
          <p:cNvPr id="18" name="Text 15"/>
          <p:cNvSpPr/>
          <p:nvPr/>
        </p:nvSpPr>
        <p:spPr>
          <a:xfrm>
            <a:off x="7899400" y="2179327"/>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z₂</a:t>
            </a:r>
            <a:endParaRPr lang="en-US" sz="1200" dirty="0"/>
          </a:p>
        </p:txBody>
      </p:sp>
      <p:sp>
        <p:nvSpPr>
          <p:cNvPr id="19" name="Text 16"/>
          <p:cNvSpPr/>
          <p:nvPr/>
        </p:nvSpPr>
        <p:spPr>
          <a:xfrm>
            <a:off x="812800" y="6238242"/>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20</a:t>
            </a:r>
            <a:endParaRPr lang="en-US" sz="1200" dirty="0"/>
          </a:p>
        </p:txBody>
      </p:sp>
      <p:sp>
        <p:nvSpPr>
          <p:cNvPr id="20" name="Text 17"/>
          <p:cNvSpPr/>
          <p:nvPr/>
        </p:nvSpPr>
        <p:spPr>
          <a:xfrm>
            <a:off x="4838700" y="6238242"/>
            <a:ext cx="65405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classe 1 · ● classe 0 · zone orangée : ŷ = 1 · cercle : erreur du modèle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ACP · CAS 2</a:t>
            </a:r>
            <a:endParaRPr lang="en-US" sz="1200" dirty="0"/>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Entraîner sur 5 variables, projeter</a:t>
            </a:r>
            <a:endParaRPr lang="en-US" sz="3200" dirty="0"/>
          </a:p>
        </p:txBody>
      </p:sp>
      <p:sp>
        <p:nvSpPr>
          <p:cNvPr id="4" name="Text 2"/>
          <p:cNvSpPr/>
          <p:nvPr/>
        </p:nvSpPr>
        <p:spPr>
          <a:xfrm>
            <a:off x="812800" y="1915158"/>
            <a:ext cx="1320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Hyperplan</a:t>
            </a:r>
            <a:endParaRPr lang="en-US" sz="1300" dirty="0"/>
          </a:p>
        </p:txBody>
      </p:sp>
      <p:sp>
        <p:nvSpPr>
          <p:cNvPr id="5" name="Text 3"/>
          <p:cNvSpPr/>
          <p:nvPr/>
        </p:nvSpPr>
        <p:spPr>
          <a:xfrm>
            <a:off x="2235200" y="1899927"/>
            <a:ext cx="51800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w · x + b = 0</a:t>
            </a:r>
            <a:endParaRPr lang="en-US" sz="1400" dirty="0"/>
          </a:p>
        </p:txBody>
      </p:sp>
      <p:sp>
        <p:nvSpPr>
          <p:cNvPr id="6" name="Text 4"/>
          <p:cNvSpPr/>
          <p:nvPr/>
        </p:nvSpPr>
        <p:spPr>
          <a:xfrm>
            <a:off x="812800" y="2252985"/>
            <a:ext cx="1320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Plan de l’ACP</a:t>
            </a:r>
            <a:endParaRPr lang="en-US" sz="1300" dirty="0"/>
          </a:p>
        </p:txBody>
      </p:sp>
      <p:sp>
        <p:nvSpPr>
          <p:cNvPr id="7" name="Text 5"/>
          <p:cNvSpPr/>
          <p:nvPr/>
        </p:nvSpPr>
        <p:spPr>
          <a:xfrm>
            <a:off x="2235200" y="2237742"/>
            <a:ext cx="51800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x = μ + V · z</a:t>
            </a:r>
            <a:endParaRPr lang="en-US" sz="1400" dirty="0"/>
          </a:p>
        </p:txBody>
      </p:sp>
      <p:sp>
        <p:nvSpPr>
          <p:cNvPr id="8" name="Text 6"/>
          <p:cNvSpPr/>
          <p:nvPr/>
        </p:nvSpPr>
        <p:spPr>
          <a:xfrm>
            <a:off x="812800" y="2590800"/>
            <a:ext cx="1320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On remplace</a:t>
            </a:r>
            <a:endParaRPr lang="en-US" sz="1300" dirty="0"/>
          </a:p>
        </p:txBody>
      </p:sp>
      <p:sp>
        <p:nvSpPr>
          <p:cNvPr id="9" name="Text 7"/>
          <p:cNvSpPr/>
          <p:nvPr/>
        </p:nvSpPr>
        <p:spPr>
          <a:xfrm>
            <a:off x="2235200" y="2575558"/>
            <a:ext cx="51800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w · (μ + V·z) + b = 0</a:t>
            </a:r>
            <a:endParaRPr lang="en-US" sz="1400" dirty="0"/>
          </a:p>
        </p:txBody>
      </p:sp>
      <p:sp>
        <p:nvSpPr>
          <p:cNvPr id="10" name="Text 8"/>
          <p:cNvSpPr/>
          <p:nvPr/>
        </p:nvSpPr>
        <p:spPr>
          <a:xfrm>
            <a:off x="812800" y="2928627"/>
            <a:ext cx="1320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Droite</a:t>
            </a:r>
            <a:endParaRPr lang="en-US" sz="1300" dirty="0"/>
          </a:p>
        </p:txBody>
      </p:sp>
      <p:sp>
        <p:nvSpPr>
          <p:cNvPr id="11" name="Text 9"/>
          <p:cNvSpPr/>
          <p:nvPr/>
        </p:nvSpPr>
        <p:spPr>
          <a:xfrm>
            <a:off x="2235200" y="2913385"/>
            <a:ext cx="518007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5541C"/>
                </a:solidFill>
                <a:latin typeface="JetBrains Mono" pitchFamily="49" charset="0"/>
                <a:ea typeface="JetBrains Mono" pitchFamily="49" charset="-122"/>
                <a:cs typeface="JetBrains Mono" pitchFamily="49" charset="-120"/>
              </a:rPr>
              <a:t>(Vᵀw) · z + (w·μ + b) = 0</a:t>
            </a:r>
            <a:endParaRPr lang="en-US" sz="1400" dirty="0"/>
          </a:p>
        </p:txBody>
      </p:sp>
      <p:sp>
        <p:nvSpPr>
          <p:cNvPr id="12" name="Text 10"/>
          <p:cNvSpPr/>
          <p:nvPr/>
        </p:nvSpPr>
        <p:spPr>
          <a:xfrm>
            <a:off x="812800" y="3266442"/>
            <a:ext cx="1320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568"/>
                </a:solidFill>
                <a:latin typeface="IBM Plex Sans" pitchFamily="34" charset="0"/>
                <a:ea typeface="IBM Plex Sans" pitchFamily="34" charset="-122"/>
                <a:cs typeface="IBM Plex Sans" pitchFamily="34" charset="-120"/>
              </a:rPr>
              <a:t>Soit</a:t>
            </a:r>
            <a:endParaRPr lang="en-US" sz="1300" dirty="0"/>
          </a:p>
        </p:txBody>
      </p:sp>
      <p:sp>
        <p:nvSpPr>
          <p:cNvPr id="13" name="Text 11"/>
          <p:cNvSpPr/>
          <p:nvPr/>
        </p:nvSpPr>
        <p:spPr>
          <a:xfrm>
            <a:off x="2235200" y="3251200"/>
            <a:ext cx="518007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JetBrains Mono" pitchFamily="49" charset="0"/>
                <a:ea typeface="JetBrains Mono" pitchFamily="49" charset="-122"/>
                <a:cs typeface="JetBrains Mono" pitchFamily="49" charset="-120"/>
              </a:rPr>
              <a:t>w′ = Vᵀw · b′ = w·μ + b</a:t>
            </a:r>
            <a:endParaRPr lang="en-US" sz="1400" dirty="0"/>
          </a:p>
        </p:txBody>
      </p:sp>
      <p:sp>
        <p:nvSpPr>
          <p:cNvPr id="14" name="Shape 12"/>
          <p:cNvSpPr/>
          <p:nvPr/>
        </p:nvSpPr>
        <p:spPr>
          <a:xfrm>
            <a:off x="822325" y="4639952"/>
            <a:ext cx="6432550" cy="1060450"/>
          </a:xfrm>
          <a:prstGeom prst="roundRect">
            <a:avLst>
              <a:gd name="adj" fmla="val 8683"/>
            </a:avLst>
          </a:prstGeom>
          <a:solidFill>
            <a:srgbClr val="FFFFFF"/>
          </a:solidFill>
          <a:ln w="19050">
            <a:solidFill>
              <a:srgbClr val="B5541C"/>
            </a:solidFill>
            <a:prstDash val="solid"/>
          </a:ln>
        </p:spPr>
      </p:sp>
      <p:sp>
        <p:nvSpPr>
          <p:cNvPr id="15" name="Text 13"/>
          <p:cNvSpPr/>
          <p:nvPr/>
        </p:nvSpPr>
        <p:spPr>
          <a:xfrm>
            <a:off x="1031240" y="4798058"/>
            <a:ext cx="619516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541C"/>
                </a:solidFill>
                <a:latin typeface="IBM Plex Sans" pitchFamily="34" charset="0"/>
                <a:ea typeface="IBM Plex Sans" pitchFamily="34" charset="-122"/>
                <a:cs typeface="IBM Plex Sans" pitchFamily="34" charset="-120"/>
              </a:rPr>
              <a:t>Attention : la droite n’est qu’une intersection</a:t>
            </a:r>
            <a:endParaRPr lang="en-US" sz="1300" dirty="0"/>
          </a:p>
        </p:txBody>
      </p:sp>
      <p:sp>
        <p:nvSpPr>
          <p:cNvPr id="16" name="Text 14"/>
          <p:cNvSpPr/>
          <p:nvPr/>
        </p:nvSpPr>
        <p:spPr>
          <a:xfrm>
            <a:off x="1031240" y="5080000"/>
            <a:ext cx="61951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Le modèle classe bien les </a:t>
            </a:r>
            <a:r>
              <a:rPr lang="en-US" sz="1300" b="1" dirty="0">
                <a:solidFill>
                  <a:srgbClr val="14213D"/>
                </a:solidFill>
                <a:latin typeface="IBM Plex Sans" pitchFamily="34" charset="0"/>
                <a:ea typeface="IBM Plex Sans" pitchFamily="34" charset="-122"/>
                <a:cs typeface="IBM Plex Sans" pitchFamily="34" charset="-120"/>
              </a:rPr>
              <a:t>31 points</a:t>
            </a:r>
            <a:r>
              <a:rPr lang="en-US" sz="1300" dirty="0">
                <a:solidFill>
                  <a:srgbClr val="4A5568"/>
                </a:solidFill>
                <a:latin typeface="IBM Plex Sans" pitchFamily="34" charset="0"/>
                <a:ea typeface="IBM Plex Sans" pitchFamily="34" charset="-122"/>
                <a:cs typeface="IBM Plex Sans" pitchFamily="34" charset="-120"/>
              </a:rPr>
              <a:t> en 5D, mais </a:t>
            </a:r>
            <a:r>
              <a:rPr lang="en-US" sz="1300" b="1" dirty="0">
                <a:solidFill>
                  <a:srgbClr val="14213D"/>
                </a:solidFill>
                <a:latin typeface="IBM Plex Sans" pitchFamily="34" charset="0"/>
                <a:ea typeface="IBM Plex Sans" pitchFamily="34" charset="-122"/>
                <a:cs typeface="IBM Plex Sans" pitchFamily="34" charset="-120"/>
              </a:rPr>
              <a:t>3 points</a:t>
            </a:r>
            <a:r>
              <a:rPr lang="en-US" sz="1300" dirty="0">
                <a:solidFill>
                  <a:srgbClr val="4A5568"/>
                </a:solidFill>
                <a:latin typeface="IBM Plex Sans" pitchFamily="34" charset="0"/>
                <a:ea typeface="IBM Plex Sans" pitchFamily="34" charset="-122"/>
                <a:cs typeface="IBM Plex Sans" pitchFamily="34" charset="-120"/>
              </a:rPr>
              <a:t> paraissent du mauvais côté : ils sont hors du plan de l’ACP.</a:t>
            </a:r>
            <a:endParaRPr lang="en-US" sz="1300" dirty="0"/>
          </a:p>
        </p:txBody>
      </p:sp>
      <p:sp>
        <p:nvSpPr>
          <p:cNvPr id="17" name="Shape 15"/>
          <p:cNvSpPr/>
          <p:nvPr/>
        </p:nvSpPr>
        <p:spPr>
          <a:xfrm>
            <a:off x="7569200" y="1899927"/>
            <a:ext cx="3810000" cy="3810000"/>
          </a:xfrm>
          <a:prstGeom prst="roundRect">
            <a:avLst>
              <a:gd name="adj" fmla="val 2667"/>
            </a:avLst>
          </a:prstGeom>
          <a:solidFill>
            <a:srgbClr val="FFFFFF"/>
          </a:solidFill>
          <a:ln/>
        </p:spPr>
      </p:sp>
      <p:pic>
        <p:nvPicPr>
          <p:cNvPr id="18" name="Image 0" descr="Plan de l’ACP avec la trace de l’hyperplan appris en 5 dimensions : trois points, entourés, semblent du mauvais côté alors que le modèle les classe correctement">    </p:cNvPr>
          <p:cNvPicPr>
            <a:picLocks noChangeAspect="1"/>
          </p:cNvPicPr>
          <p:nvPr/>
        </p:nvPicPr>
        <p:blipFill>
          <a:blip r:embed="rId1"/>
          <a:srcRect l="0" r="0" t="0" b="0"/>
          <a:stretch/>
        </p:blipFill>
        <p:spPr>
          <a:xfrm>
            <a:off x="7569200" y="1899927"/>
            <a:ext cx="3810000" cy="3810000"/>
          </a:xfrm>
          <a:prstGeom prst="roundRect">
            <a:avLst>
              <a:gd name="adj" fmla="val 2667"/>
            </a:avLst>
          </a:prstGeom>
        </p:spPr>
      </p:pic>
      <p:sp>
        <p:nvSpPr>
          <p:cNvPr id="19" name="Text 16"/>
          <p:cNvSpPr/>
          <p:nvPr/>
        </p:nvSpPr>
        <p:spPr>
          <a:xfrm>
            <a:off x="9613900" y="5201927"/>
            <a:ext cx="1447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z₁ →</a:t>
            </a:r>
            <a:endParaRPr lang="en-US" sz="1200" dirty="0"/>
          </a:p>
        </p:txBody>
      </p:sp>
      <p:sp>
        <p:nvSpPr>
          <p:cNvPr id="20" name="Text 17"/>
          <p:cNvSpPr/>
          <p:nvPr/>
        </p:nvSpPr>
        <p:spPr>
          <a:xfrm>
            <a:off x="7899400" y="2179327"/>
            <a:ext cx="812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z₂</a:t>
            </a:r>
            <a:endParaRPr lang="en-US" sz="1200" dirty="0"/>
          </a:p>
        </p:txBody>
      </p:sp>
      <p:sp>
        <p:nvSpPr>
          <p:cNvPr id="21" name="Text 18"/>
          <p:cNvSpPr/>
          <p:nvPr/>
        </p:nvSpPr>
        <p:spPr>
          <a:xfrm>
            <a:off x="812800" y="6238242"/>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21</a:t>
            </a:r>
            <a:endParaRPr lang="en-US" sz="1200" dirty="0"/>
          </a:p>
        </p:txBody>
      </p:sp>
      <p:sp>
        <p:nvSpPr>
          <p:cNvPr id="22" name="Text 19"/>
          <p:cNvSpPr/>
          <p:nvPr/>
        </p:nvSpPr>
        <p:spPr>
          <a:xfrm>
            <a:off x="4838700" y="6238242"/>
            <a:ext cx="65405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classe 1 · ● classe 0 · zone orangée : ŷ = 1 · cercle : point mal affiché</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5541C"/>
                </a:solidFill>
                <a:latin typeface="IBM Plex Sans" pitchFamily="34" charset="0"/>
                <a:ea typeface="IBM Plex Sans" pitchFamily="34" charset="-122"/>
                <a:cs typeface="IBM Plex Sans" pitchFamily="34" charset="-120"/>
              </a:rPr>
              <a:t>L’ALTERNATIVE LA PLUS FIDÈLE</a:t>
            </a:r>
            <a:endParaRPr lang="en-US" sz="1200" dirty="0"/>
          </a:p>
        </p:txBody>
      </p:sp>
      <p:sp>
        <p:nvSpPr>
          <p:cNvPr id="3" name="Text 1"/>
          <p:cNvSpPr/>
          <p:nvPr>
            <p:ph type="title"/>
          </p:nvPr>
        </p:nvSpPr>
        <p:spPr>
          <a:xfrm>
            <a:off x="812800" y="11277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pace Grotesk" pitchFamily="34" charset="0"/>
                <a:ea typeface="Space Grotesk" pitchFamily="34" charset="-122"/>
                <a:cs typeface="Space Grotesk" pitchFamily="34" charset="-120"/>
              </a:rPr>
              <a:t>Un axe aligné sur l’hyperplan</a:t>
            </a:r>
            <a:endParaRPr lang="en-US" sz="3200" dirty="0"/>
          </a:p>
        </p:txBody>
      </p:sp>
      <p:sp>
        <p:nvSpPr>
          <p:cNvPr id="4" name="Shape 2"/>
          <p:cNvSpPr/>
          <p:nvPr/>
        </p:nvSpPr>
        <p:spPr>
          <a:xfrm>
            <a:off x="815975" y="1903102"/>
            <a:ext cx="6445250" cy="920750"/>
          </a:xfrm>
          <a:prstGeom prst="roundRect">
            <a:avLst>
              <a:gd name="adj" fmla="val 10690"/>
            </a:avLst>
          </a:prstGeom>
          <a:solidFill>
            <a:srgbClr val="FFFFFF"/>
          </a:solidFill>
          <a:ln w="6350">
            <a:solidFill>
              <a:srgbClr val="DDD8CB"/>
            </a:solidFill>
            <a:prstDash val="solid"/>
          </a:ln>
        </p:spPr>
      </p:sp>
      <p:sp>
        <p:nvSpPr>
          <p:cNvPr id="5" name="Text 3"/>
          <p:cNvSpPr/>
          <p:nvPr/>
        </p:nvSpPr>
        <p:spPr>
          <a:xfrm>
            <a:off x="1046480" y="2082800"/>
            <a:ext cx="616376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AXE HORIZONTAL : DISTANCE SIGNÉE</a:t>
            </a:r>
            <a:endParaRPr lang="en-US" sz="1200" dirty="0"/>
          </a:p>
        </p:txBody>
      </p:sp>
      <p:sp>
        <p:nvSpPr>
          <p:cNvPr id="6" name="Text 4"/>
          <p:cNvSpPr/>
          <p:nvPr/>
        </p:nvSpPr>
        <p:spPr>
          <a:xfrm>
            <a:off x="1046480" y="2359658"/>
            <a:ext cx="6163767"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B5541C"/>
                </a:solidFill>
                <a:latin typeface="JetBrains Mono" pitchFamily="49" charset="0"/>
                <a:ea typeface="JetBrains Mono" pitchFamily="49" charset="-122"/>
                <a:cs typeface="JetBrains Mono" pitchFamily="49" charset="-120"/>
              </a:rPr>
              <a:t>d = (w · x + b) / ‖w‖</a:t>
            </a:r>
            <a:endParaRPr lang="en-US" sz="1600" dirty="0"/>
          </a:p>
        </p:txBody>
      </p:sp>
      <p:sp>
        <p:nvSpPr>
          <p:cNvPr id="7" name="Shape 5"/>
          <p:cNvSpPr/>
          <p:nvPr/>
        </p:nvSpPr>
        <p:spPr>
          <a:xfrm>
            <a:off x="815975" y="3367410"/>
            <a:ext cx="6445250" cy="885190"/>
          </a:xfrm>
          <a:prstGeom prst="roundRect">
            <a:avLst>
              <a:gd name="adj" fmla="val 11119"/>
            </a:avLst>
          </a:prstGeom>
          <a:solidFill>
            <a:srgbClr val="FFFFFF"/>
          </a:solidFill>
          <a:ln w="6350">
            <a:solidFill>
              <a:srgbClr val="DDD8CB"/>
            </a:solidFill>
            <a:prstDash val="solid"/>
          </a:ln>
        </p:spPr>
      </p:sp>
      <p:sp>
        <p:nvSpPr>
          <p:cNvPr id="8" name="Text 6"/>
          <p:cNvSpPr/>
          <p:nvPr/>
        </p:nvSpPr>
        <p:spPr>
          <a:xfrm>
            <a:off x="1046480" y="3547108"/>
            <a:ext cx="616376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IBM Plex Sans" pitchFamily="34" charset="0"/>
                <a:ea typeface="IBM Plex Sans" pitchFamily="34" charset="-122"/>
                <a:cs typeface="IBM Plex Sans" pitchFamily="34" charset="-120"/>
              </a:rPr>
              <a:t>AXE VERTICAL</a:t>
            </a:r>
            <a:endParaRPr lang="en-US" sz="1200" dirty="0"/>
          </a:p>
        </p:txBody>
      </p:sp>
      <p:sp>
        <p:nvSpPr>
          <p:cNvPr id="9" name="Text 7"/>
          <p:cNvSpPr/>
          <p:nvPr/>
        </p:nvSpPr>
        <p:spPr>
          <a:xfrm>
            <a:off x="1046480" y="3823977"/>
            <a:ext cx="61637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1ʳᵉ composante de l’ACP des données, une fois la direction de w retirée</a:t>
            </a:r>
            <a:endParaRPr lang="en-US" sz="1400" dirty="0"/>
          </a:p>
        </p:txBody>
      </p:sp>
      <p:sp>
        <p:nvSpPr>
          <p:cNvPr id="10" name="Shape 8"/>
          <p:cNvSpPr/>
          <p:nvPr/>
        </p:nvSpPr>
        <p:spPr>
          <a:xfrm>
            <a:off x="812800" y="4792985"/>
            <a:ext cx="6451600" cy="916940"/>
          </a:xfrm>
          <a:prstGeom prst="roundRect">
            <a:avLst>
              <a:gd name="adj" fmla="val 11080"/>
            </a:avLst>
          </a:prstGeom>
          <a:solidFill>
            <a:srgbClr val="14213D"/>
          </a:solidFill>
          <a:ln/>
        </p:spPr>
      </p:sp>
      <p:sp>
        <p:nvSpPr>
          <p:cNvPr id="11" name="Text 9"/>
          <p:cNvSpPr/>
          <p:nvPr/>
        </p:nvSpPr>
        <p:spPr>
          <a:xfrm>
            <a:off x="1041400" y="4970785"/>
            <a:ext cx="617423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6F4EE"/>
                </a:solidFill>
                <a:latin typeface="IBM Plex Sans" pitchFamily="34" charset="0"/>
                <a:ea typeface="IBM Plex Sans" pitchFamily="34" charset="-122"/>
                <a:cs typeface="IBM Plex Sans" pitchFamily="34" charset="-120"/>
              </a:rPr>
              <a:t>L’hyperplan devient la </a:t>
            </a:r>
            <a:r>
              <a:rPr lang="en-US" sz="1400" b="1" dirty="0">
                <a:solidFill>
                  <a:srgbClr val="F09A5B"/>
                </a:solidFill>
                <a:latin typeface="IBM Plex Sans" pitchFamily="34" charset="0"/>
                <a:ea typeface="IBM Plex Sans" pitchFamily="34" charset="-122"/>
                <a:cs typeface="IBM Plex Sans" pitchFamily="34" charset="-120"/>
              </a:rPr>
              <a:t>droite verticale d = 0</a:t>
            </a:r>
            <a:r>
              <a:rPr lang="en-US" sz="1400" dirty="0">
                <a:solidFill>
                  <a:srgbClr val="F6F4EE"/>
                </a:solidFill>
                <a:latin typeface="IBM Plex Sans" pitchFamily="34" charset="0"/>
                <a:ea typeface="IBM Plex Sans" pitchFamily="34" charset="-122"/>
                <a:cs typeface="IBM Plex Sans" pitchFamily="34" charset="-120"/>
              </a:rPr>
              <a:t>.</a:t>
            </a:r>
            <a:endParaRPr lang="en-US" sz="1400" dirty="0"/>
          </a:p>
        </p:txBody>
      </p:sp>
      <p:sp>
        <p:nvSpPr>
          <p:cNvPr id="12" name="Text 10"/>
          <p:cNvSpPr/>
          <p:nvPr/>
        </p:nvSpPr>
        <p:spPr>
          <a:xfrm>
            <a:off x="1041400" y="5283200"/>
            <a:ext cx="617423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9DA"/>
                </a:solidFill>
                <a:latin typeface="IBM Plex Sans" pitchFamily="34" charset="0"/>
                <a:ea typeface="IBM Plex Sans" pitchFamily="34" charset="-122"/>
                <a:cs typeface="IBM Plex Sans" pitchFamily="34" charset="-120"/>
              </a:rPr>
              <a:t>Un point est du bon côté ⇔ il est bien classé : </a:t>
            </a:r>
            <a:r>
              <a:rPr lang="en-US" sz="1400" b="1" dirty="0">
                <a:solidFill>
                  <a:srgbClr val="F6F4EE"/>
                </a:solidFill>
                <a:latin typeface="IBM Plex Sans" pitchFamily="34" charset="0"/>
                <a:ea typeface="IBM Plex Sans" pitchFamily="34" charset="-122"/>
                <a:cs typeface="IBM Plex Sans" pitchFamily="34" charset="-120"/>
              </a:rPr>
              <a:t>31 / 31</a:t>
            </a:r>
            <a:r>
              <a:rPr lang="en-US" sz="1400" dirty="0">
                <a:solidFill>
                  <a:srgbClr val="BFC9DA"/>
                </a:solidFill>
                <a:latin typeface="IBM Plex Sans" pitchFamily="34" charset="0"/>
                <a:ea typeface="IBM Plex Sans" pitchFamily="34" charset="-122"/>
                <a:cs typeface="IBM Plex Sans" pitchFamily="34" charset="-120"/>
              </a:rPr>
              <a:t>, aucune illusion.</a:t>
            </a:r>
            <a:endParaRPr lang="en-US" sz="1400" dirty="0"/>
          </a:p>
        </p:txBody>
      </p:sp>
      <p:sp>
        <p:nvSpPr>
          <p:cNvPr id="13" name="Shape 11"/>
          <p:cNvSpPr/>
          <p:nvPr/>
        </p:nvSpPr>
        <p:spPr>
          <a:xfrm>
            <a:off x="7569200" y="1899927"/>
            <a:ext cx="3810000" cy="3810000"/>
          </a:xfrm>
          <a:prstGeom prst="roundRect">
            <a:avLst>
              <a:gd name="adj" fmla="val 2667"/>
            </a:avLst>
          </a:prstGeom>
          <a:solidFill>
            <a:srgbClr val="FFFFFF"/>
          </a:solidFill>
          <a:ln/>
        </p:spPr>
      </p:sp>
      <p:pic>
        <p:nvPicPr>
          <p:cNvPr id="14" name="Image 0" descr="Vue alignée sur l’hyperplan : la frontière est une ligne verticale ; tous les points de classe 1 sont à droite, tous ceux de classe 0 à gauche">    </p:cNvPr>
          <p:cNvPicPr>
            <a:picLocks noChangeAspect="1"/>
          </p:cNvPicPr>
          <p:nvPr/>
        </p:nvPicPr>
        <p:blipFill>
          <a:blip r:embed="rId1"/>
          <a:srcRect l="0" r="0" t="0" b="0"/>
          <a:stretch/>
        </p:blipFill>
        <p:spPr>
          <a:xfrm>
            <a:off x="7569200" y="1899927"/>
            <a:ext cx="3810000" cy="3810000"/>
          </a:xfrm>
          <a:prstGeom prst="roundRect">
            <a:avLst>
              <a:gd name="adj" fmla="val 2667"/>
            </a:avLst>
          </a:prstGeom>
        </p:spPr>
      </p:pic>
      <p:sp>
        <p:nvSpPr>
          <p:cNvPr id="15" name="Text 12"/>
          <p:cNvSpPr/>
          <p:nvPr/>
        </p:nvSpPr>
        <p:spPr>
          <a:xfrm>
            <a:off x="9423400" y="5201927"/>
            <a:ext cx="16383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d →</a:t>
            </a:r>
            <a:endParaRPr lang="en-US" sz="1200" dirty="0"/>
          </a:p>
        </p:txBody>
      </p:sp>
      <p:sp>
        <p:nvSpPr>
          <p:cNvPr id="16" name="Text 13"/>
          <p:cNvSpPr/>
          <p:nvPr/>
        </p:nvSpPr>
        <p:spPr>
          <a:xfrm>
            <a:off x="9664700" y="2179327"/>
            <a:ext cx="558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5541C"/>
                </a:solidFill>
                <a:latin typeface="IBM Plex Sans" pitchFamily="34" charset="0"/>
                <a:ea typeface="IBM Plex Sans" pitchFamily="34" charset="-122"/>
                <a:cs typeface="IBM Plex Sans" pitchFamily="34" charset="-120"/>
              </a:rPr>
              <a:t>d = 0</a:t>
            </a:r>
            <a:endParaRPr lang="en-US" sz="1200" dirty="0"/>
          </a:p>
        </p:txBody>
      </p:sp>
      <p:sp>
        <p:nvSpPr>
          <p:cNvPr id="17" name="Text 14"/>
          <p:cNvSpPr/>
          <p:nvPr/>
        </p:nvSpPr>
        <p:spPr>
          <a:xfrm>
            <a:off x="7899400" y="2179327"/>
            <a:ext cx="14478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ACP du reste</a:t>
            </a:r>
            <a:endParaRPr lang="en-US" sz="1200" dirty="0"/>
          </a:p>
        </p:txBody>
      </p:sp>
      <p:sp>
        <p:nvSpPr>
          <p:cNvPr id="18" name="Text 15"/>
          <p:cNvSpPr/>
          <p:nvPr/>
        </p:nvSpPr>
        <p:spPr>
          <a:xfrm>
            <a:off x="812800" y="6238242"/>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Le perceptron · 22</a:t>
            </a:r>
            <a:endParaRPr lang="en-US" sz="1200" dirty="0"/>
          </a:p>
        </p:txBody>
      </p:sp>
      <p:sp>
        <p:nvSpPr>
          <p:cNvPr id="19" name="Text 16"/>
          <p:cNvSpPr/>
          <p:nvPr/>
        </p:nvSpPr>
        <p:spPr>
          <a:xfrm>
            <a:off x="5492750" y="6238242"/>
            <a:ext cx="588645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 classe 1 · ● classe 0 · zone orangée : ŷ = 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09A5B"/>
                </a:solidFill>
                <a:latin typeface="IBM Plex Sans" pitchFamily="34" charset="0"/>
                <a:ea typeface="IBM Plex Sans" pitchFamily="34" charset="-122"/>
                <a:cs typeface="IBM Plex Sans" pitchFamily="34" charset="-120"/>
              </a:rPr>
              <a:t>À RETENIR</a:t>
            </a:r>
            <a:endParaRPr lang="en-US" sz="1200" dirty="0"/>
          </a:p>
        </p:txBody>
      </p:sp>
      <p:sp>
        <p:nvSpPr>
          <p:cNvPr id="3" name="Text 1"/>
          <p:cNvSpPr/>
          <p:nvPr>
            <p:ph type="title"/>
          </p:nvPr>
        </p:nvSpPr>
        <p:spPr>
          <a:xfrm>
            <a:off x="812800" y="1127758"/>
            <a:ext cx="10883392" cy="551180"/>
          </a:xfrm>
          <a:prstGeom prst="rect">
            <a:avLst/>
          </a:prstGeom>
          <a:noFill/>
          <a:ln/>
        </p:spPr>
        <p:txBody>
          <a:bodyPr wrap="square" lIns="0" tIns="0" rIns="0" bIns="0" rtlCol="0" anchor="t">
            <a:normAutofit/>
          </a:bodyPr>
          <a:lstStyle/>
          <a:p>
            <a:pPr algn="l" indent="0" marL="0">
              <a:lnSpc>
                <a:spcPts val="4140"/>
              </a:lnSpc>
              <a:buNone/>
            </a:pPr>
            <a:r>
              <a:rPr lang="en-US" sz="3600" b="1" i="0" dirty="0">
                <a:solidFill>
                  <a:srgbClr val="F6F4EE"/>
                </a:solidFill>
                <a:latin typeface="Space Grotesk" pitchFamily="34" charset="0"/>
                <a:ea typeface="Space Grotesk" pitchFamily="34" charset="-122"/>
                <a:cs typeface="Space Grotesk" pitchFamily="34" charset="-120"/>
              </a:rPr>
              <a:t>Un neurone, deux phases, une règle</a:t>
            </a:r>
            <a:endParaRPr lang="en-US" sz="3600" dirty="0"/>
          </a:p>
        </p:txBody>
      </p:sp>
      <p:sp>
        <p:nvSpPr>
          <p:cNvPr id="4" name="Shape 2"/>
          <p:cNvSpPr/>
          <p:nvPr/>
        </p:nvSpPr>
        <p:spPr>
          <a:xfrm>
            <a:off x="812800" y="2891160"/>
            <a:ext cx="3386614" cy="0"/>
          </a:xfrm>
          <a:prstGeom prst="line">
            <a:avLst/>
          </a:prstGeom>
          <a:noFill/>
          <a:ln w="19050">
            <a:solidFill>
              <a:srgbClr val="F09A5B"/>
            </a:solidFill>
            <a:prstDash val="solid"/>
          </a:ln>
        </p:spPr>
      </p:sp>
      <p:sp>
        <p:nvSpPr>
          <p:cNvPr id="5" name="Text 3"/>
          <p:cNvSpPr/>
          <p:nvPr/>
        </p:nvSpPr>
        <p:spPr>
          <a:xfrm>
            <a:off x="812800" y="3049277"/>
            <a:ext cx="348821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Space Grotesk" pitchFamily="34" charset="0"/>
                <a:ea typeface="Space Grotesk" pitchFamily="34" charset="-122"/>
                <a:cs typeface="Space Grotesk" pitchFamily="34" charset="-120"/>
              </a:rPr>
              <a:t>Classifieur linéaire</a:t>
            </a:r>
            <a:endParaRPr lang="en-US" sz="1800" dirty="0"/>
          </a:p>
        </p:txBody>
      </p:sp>
      <p:sp>
        <p:nvSpPr>
          <p:cNvPr id="6" name="Text 4"/>
          <p:cNvSpPr/>
          <p:nvPr/>
        </p:nvSpPr>
        <p:spPr>
          <a:xfrm>
            <a:off x="812800" y="3399792"/>
            <a:ext cx="348821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9DA"/>
                </a:solidFill>
                <a:latin typeface="IBM Plex Sans" pitchFamily="34" charset="0"/>
                <a:ea typeface="IBM Plex Sans" pitchFamily="34" charset="-122"/>
                <a:cs typeface="IBM Plex Sans" pitchFamily="34" charset="-120"/>
              </a:rPr>
              <a:t>Binaire et supervisé, il sépare deux classes par une droite, un plan ou un hyperplan.</a:t>
            </a:r>
            <a:endParaRPr lang="en-US" sz="1400" dirty="0"/>
          </a:p>
        </p:txBody>
      </p:sp>
      <p:sp>
        <p:nvSpPr>
          <p:cNvPr id="7" name="Shape 5"/>
          <p:cNvSpPr/>
          <p:nvPr/>
        </p:nvSpPr>
        <p:spPr>
          <a:xfrm>
            <a:off x="4402614" y="2891160"/>
            <a:ext cx="3386693" cy="0"/>
          </a:xfrm>
          <a:prstGeom prst="line">
            <a:avLst/>
          </a:prstGeom>
          <a:noFill/>
          <a:ln w="19050">
            <a:solidFill>
              <a:srgbClr val="F09A5B"/>
            </a:solidFill>
            <a:prstDash val="solid"/>
          </a:ln>
        </p:spPr>
      </p:sp>
      <p:sp>
        <p:nvSpPr>
          <p:cNvPr id="8" name="Text 6"/>
          <p:cNvSpPr/>
          <p:nvPr/>
        </p:nvSpPr>
        <p:spPr>
          <a:xfrm>
            <a:off x="4402614" y="3049277"/>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Space Grotesk" pitchFamily="34" charset="0"/>
                <a:ea typeface="Space Grotesk" pitchFamily="34" charset="-122"/>
                <a:cs typeface="Space Grotesk" pitchFamily="34" charset="-120"/>
              </a:rPr>
              <a:t>Sommation + activation</a:t>
            </a:r>
            <a:endParaRPr lang="en-US" sz="1800" dirty="0"/>
          </a:p>
        </p:txBody>
      </p:sp>
      <p:sp>
        <p:nvSpPr>
          <p:cNvPr id="9" name="Text 7"/>
          <p:cNvSpPr/>
          <p:nvPr/>
        </p:nvSpPr>
        <p:spPr>
          <a:xfrm>
            <a:off x="4402614" y="3399792"/>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9DA"/>
                </a:solidFill>
                <a:latin typeface="IBM Plex Sans" pitchFamily="34" charset="0"/>
                <a:ea typeface="IBM Plex Sans" pitchFamily="34" charset="-122"/>
                <a:cs typeface="IBM Plex Sans" pitchFamily="34" charset="-120"/>
              </a:rPr>
              <a:t>Somme pondérée des entrées plus le biais, puis fonction seuil.</a:t>
            </a:r>
            <a:endParaRPr lang="en-US" sz="1400" dirty="0"/>
          </a:p>
        </p:txBody>
      </p:sp>
      <p:sp>
        <p:nvSpPr>
          <p:cNvPr id="10" name="Shape 8"/>
          <p:cNvSpPr/>
          <p:nvPr/>
        </p:nvSpPr>
        <p:spPr>
          <a:xfrm>
            <a:off x="7992507" y="2891160"/>
            <a:ext cx="3386693" cy="0"/>
          </a:xfrm>
          <a:prstGeom prst="line">
            <a:avLst/>
          </a:prstGeom>
          <a:noFill/>
          <a:ln w="19050">
            <a:solidFill>
              <a:srgbClr val="F09A5B"/>
            </a:solidFill>
            <a:prstDash val="solid"/>
          </a:ln>
        </p:spPr>
      </p:sp>
      <p:sp>
        <p:nvSpPr>
          <p:cNvPr id="11" name="Text 9"/>
          <p:cNvSpPr/>
          <p:nvPr/>
        </p:nvSpPr>
        <p:spPr>
          <a:xfrm>
            <a:off x="7992507" y="3049277"/>
            <a:ext cx="348829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6F4EE"/>
                </a:solidFill>
                <a:latin typeface="Space Grotesk" pitchFamily="34" charset="0"/>
                <a:ea typeface="Space Grotesk" pitchFamily="34" charset="-122"/>
                <a:cs typeface="Space Grotesk" pitchFamily="34" charset="-120"/>
              </a:rPr>
              <a:t>Correction des erreurs</a:t>
            </a:r>
            <a:endParaRPr lang="en-US" sz="1800" dirty="0"/>
          </a:p>
        </p:txBody>
      </p:sp>
      <p:sp>
        <p:nvSpPr>
          <p:cNvPr id="12" name="Text 10"/>
          <p:cNvSpPr/>
          <p:nvPr/>
        </p:nvSpPr>
        <p:spPr>
          <a:xfrm>
            <a:off x="7992507" y="3399792"/>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09A5B"/>
                </a:solidFill>
                <a:latin typeface="JetBrains Mono" pitchFamily="49" charset="0"/>
                <a:ea typeface="JetBrains Mono" pitchFamily="49" charset="-122"/>
                <a:cs typeface="JetBrains Mono" pitchFamily="49" charset="-120"/>
              </a:rPr>
              <a:t>Δwᵢ = α(t − ŷ)xᵢ</a:t>
            </a:r>
            <a:endParaRPr lang="en-US" sz="1400" dirty="0"/>
          </a:p>
        </p:txBody>
      </p:sp>
      <p:sp>
        <p:nvSpPr>
          <p:cNvPr id="13" name="Text 11"/>
          <p:cNvSpPr/>
          <p:nvPr/>
        </p:nvSpPr>
        <p:spPr>
          <a:xfrm>
            <a:off x="7992507" y="3724908"/>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9DA"/>
                </a:solidFill>
                <a:latin typeface="IBM Plex Sans" pitchFamily="34" charset="0"/>
                <a:ea typeface="IBM Plex Sans" pitchFamily="34" charset="-122"/>
                <a:cs typeface="IBM Plex Sans" pitchFamily="34" charset="-120"/>
              </a:rPr>
              <a:t>Au-delà du linéaire : perceptron multicouche.</a:t>
            </a:r>
            <a:endParaRPr lang="en-US" sz="1400" dirty="0"/>
          </a:p>
        </p:txBody>
      </p:sp>
      <p:sp>
        <p:nvSpPr>
          <p:cNvPr id="14" name="Text 12"/>
          <p:cNvSpPr/>
          <p:nvPr/>
        </p:nvSpPr>
        <p:spPr>
          <a:xfrm>
            <a:off x="812800" y="5450842"/>
            <a:ext cx="1088339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09A5B"/>
                </a:solidFill>
                <a:latin typeface="Space Grotesk" pitchFamily="34" charset="0"/>
                <a:ea typeface="Space Grotesk" pitchFamily="34" charset="-122"/>
                <a:cs typeface="Space Grotesk" pitchFamily="34" charset="-120"/>
              </a:rPr>
              <a:t>Merci de votre attention</a:t>
            </a:r>
            <a:endParaRPr lang="en-US" sz="2200" dirty="0"/>
          </a:p>
        </p:txBody>
      </p:sp>
    </p:spTree>
  </p:cSld>
  <p:clrMapOvr>
    <a:masterClrMapping/>
  </p:clrMapOvr>
</p:sld>
</file>

<file path=ppt/theme/theme1.xml><?xml version="1.0" encoding="utf-8"?>
<a:theme xmlns:a="http://schemas.openxmlformats.org/drawingml/2006/main" name="Le Perceptron">
  <a:themeElements>
    <a:clrScheme name="Le Perceptron">
      <a:dk1>
        <a:srgbClr val="14213D"/>
      </a:dk1>
      <a:lt1>
        <a:srgbClr val="F6F4EE"/>
      </a:lt1>
      <a:dk2>
        <a:srgbClr val="4D5669"/>
      </a:dk2>
      <a:lt2>
        <a:srgbClr val="DFDFDC"/>
      </a:lt2>
      <a:accent1>
        <a:srgbClr val="B5541C"/>
      </a:accent1>
      <a:accent2>
        <a:srgbClr val="F09A5B"/>
      </a:accent2>
      <a:accent3>
        <a:srgbClr val="4A5568"/>
      </a:accent3>
      <a:accent4>
        <a:srgbClr val="BFC9DA"/>
      </a:accent4>
      <a:accent5>
        <a:srgbClr val="9AA0A6"/>
      </a:accent5>
      <a:accent6>
        <a:srgbClr val="6E7584"/>
      </a:accent6>
      <a:hlink>
        <a:srgbClr val="0563C1"/>
      </a:hlink>
      <a:folHlink>
        <a:srgbClr val="954F72"/>
      </a:folHlink>
    </a:clrScheme>
    <a:fontScheme name="Le Perceptron">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Perceptron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2026-10-28T14:16:23Z</dcterms:created>
  <dcterms:modified xsi:type="dcterms:W3CDTF">2026-10-28T14:16:23Z</dcterms:modified>
</cp:coreProperties>
</file>